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5143500" cx="9144000"/>
  <p:notesSz cx="6858000" cy="9144000"/>
  <p:embeddedFontLst>
    <p:embeddedFont>
      <p:font typeface="DM Sans Medium"/>
      <p:regular r:id="rId27"/>
      <p:bold r:id="rId28"/>
      <p:italic r:id="rId29"/>
      <p:boldItalic r:id="rId30"/>
    </p:embeddedFont>
    <p:embeddedFont>
      <p:font typeface="Outfit"/>
      <p:regular r:id="rId31"/>
      <p:bold r:id="rId32"/>
    </p:embeddedFont>
    <p:embeddedFont>
      <p:font typeface="Outfit Medium"/>
      <p:regular r:id="rId33"/>
      <p:bold r:id="rId34"/>
    </p:embeddedFont>
    <p:embeddedFont>
      <p:font typeface="DM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DMSansMedium-bold.fntdata"/><Relationship Id="rId27" Type="http://schemas.openxmlformats.org/officeDocument/2006/relationships/font" Target="fonts/DMSansMedium-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DMSansMedium-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Outfit-regular.fntdata"/><Relationship Id="rId30" Type="http://schemas.openxmlformats.org/officeDocument/2006/relationships/font" Target="fonts/DMSansMedium-boldItalic.fntdata"/><Relationship Id="rId11" Type="http://schemas.openxmlformats.org/officeDocument/2006/relationships/slide" Target="slides/slide7.xml"/><Relationship Id="rId33" Type="http://schemas.openxmlformats.org/officeDocument/2006/relationships/font" Target="fonts/OutfitMedium-regular.fntdata"/><Relationship Id="rId10" Type="http://schemas.openxmlformats.org/officeDocument/2006/relationships/slide" Target="slides/slide6.xml"/><Relationship Id="rId32" Type="http://schemas.openxmlformats.org/officeDocument/2006/relationships/font" Target="fonts/Outfit-bold.fntdata"/><Relationship Id="rId13" Type="http://schemas.openxmlformats.org/officeDocument/2006/relationships/slide" Target="slides/slide9.xml"/><Relationship Id="rId35" Type="http://schemas.openxmlformats.org/officeDocument/2006/relationships/font" Target="fonts/DMSans-regular.fntdata"/><Relationship Id="rId12" Type="http://schemas.openxmlformats.org/officeDocument/2006/relationships/slide" Target="slides/slide8.xml"/><Relationship Id="rId34" Type="http://schemas.openxmlformats.org/officeDocument/2006/relationships/font" Target="fonts/OutfitMedium-bold.fntdata"/><Relationship Id="rId15" Type="http://schemas.openxmlformats.org/officeDocument/2006/relationships/slide" Target="slides/slide11.xml"/><Relationship Id="rId37" Type="http://schemas.openxmlformats.org/officeDocument/2006/relationships/font" Target="fonts/DMSans-italic.fntdata"/><Relationship Id="rId14" Type="http://schemas.openxmlformats.org/officeDocument/2006/relationships/slide" Target="slides/slide10.xml"/><Relationship Id="rId36" Type="http://schemas.openxmlformats.org/officeDocument/2006/relationships/font" Target="fonts/DMSans-bold.fntdata"/><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font" Target="fonts/DMSans-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4072739ea5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14072739ea5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Introduction:</a:t>
            </a:r>
            <a:endParaRPr b="1"/>
          </a:p>
          <a:p>
            <a:pPr indent="0" lvl="0" marL="0" rtl="0" algn="l">
              <a:spcBef>
                <a:spcPts val="0"/>
              </a:spcBef>
              <a:spcAft>
                <a:spcPts val="0"/>
              </a:spcAft>
              <a:buNone/>
            </a:pPr>
            <a:r>
              <a:rPr lang="en"/>
              <a:t>-Name</a:t>
            </a:r>
            <a:endParaRPr/>
          </a:p>
          <a:p>
            <a:pPr indent="0" lvl="0" marL="0" rtl="0" algn="l">
              <a:spcBef>
                <a:spcPts val="0"/>
              </a:spcBef>
              <a:spcAft>
                <a:spcPts val="0"/>
              </a:spcAft>
              <a:buNone/>
            </a:pPr>
            <a:r>
              <a:rPr lang="en"/>
              <a:t>-Where I’m from</a:t>
            </a:r>
            <a:endParaRPr/>
          </a:p>
          <a:p>
            <a:pPr indent="0" lvl="0" marL="0" rtl="0" algn="l">
              <a:spcBef>
                <a:spcPts val="0"/>
              </a:spcBef>
              <a:spcAft>
                <a:spcPts val="0"/>
              </a:spcAft>
              <a:buNone/>
            </a:pPr>
            <a:r>
              <a:rPr lang="en"/>
              <a:t>-Where I went to school / What school I will be attending / major</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
              <a:t>This summer:</a:t>
            </a:r>
            <a:endParaRPr b="1"/>
          </a:p>
          <a:p>
            <a:pPr indent="0" lvl="0" marL="0" rtl="0" algn="l">
              <a:spcBef>
                <a:spcPts val="0"/>
              </a:spcBef>
              <a:spcAft>
                <a:spcPts val="0"/>
              </a:spcAft>
              <a:buNone/>
            </a:pPr>
            <a:r>
              <a:rPr lang="en"/>
              <a:t>-Who I am working with this summer (co-mentorship from Paul Stewart at the Huntsman Cancer Institute and Kevin Hicks)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as mentioned in the presentation title, this summer I was tasked with creating a coding pipeline using R to integrate external databases like UniProt and HMDB with MIDAS data for unique user queries and to </a:t>
            </a:r>
            <a:r>
              <a:rPr lang="en"/>
              <a:t>identify</a:t>
            </a:r>
            <a:r>
              <a:rPr lang="en"/>
              <a:t> previously annotated interactors and potentially discover novel or unknown protein </a:t>
            </a:r>
            <a:r>
              <a:rPr lang="en"/>
              <a:t>metabolite</a:t>
            </a:r>
            <a:r>
              <a:rPr lang="en"/>
              <a:t> </a:t>
            </a:r>
            <a:r>
              <a:rPr lang="en"/>
              <a:t>interactions. This tool coding pipeline would be helpful for hypothesis generation.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73bda050f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73bda050f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 going to give some </a:t>
            </a:r>
            <a:r>
              <a:rPr lang="en"/>
              <a:t>background</a:t>
            </a:r>
            <a:r>
              <a:rPr lang="en"/>
              <a:t> information into my project and define some of the terms you will frequently </a:t>
            </a:r>
            <a:r>
              <a:rPr lang="en"/>
              <a:t>hear throughout!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So, the title of the presentation is called “linking MIDAS Data with Biological databases”. So, what exactly is MIDAS and why is it important?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MIDAS </a:t>
            </a:r>
            <a:r>
              <a:rPr lang="en">
                <a:solidFill>
                  <a:schemeClr val="dk1"/>
                </a:solidFill>
              </a:rPr>
              <a:t>stands for Mass Spectrometry Integrated with Equilibrium Dialysis for the Discovery of Allostery Systematically. In more </a:t>
            </a:r>
            <a:r>
              <a:rPr lang="en">
                <a:solidFill>
                  <a:schemeClr val="dk1"/>
                </a:solidFill>
              </a:rPr>
              <a:t>digestible</a:t>
            </a:r>
            <a:r>
              <a:rPr lang="en">
                <a:solidFill>
                  <a:schemeClr val="dk1"/>
                </a:solidFill>
              </a:rPr>
              <a:t> terms, MIDAS uses </a:t>
            </a:r>
            <a:r>
              <a:rPr b="1" lang="en">
                <a:solidFill>
                  <a:schemeClr val="dk1"/>
                </a:solidFill>
              </a:rPr>
              <a:t>mass spectrometry</a:t>
            </a:r>
            <a:r>
              <a:rPr lang="en">
                <a:solidFill>
                  <a:schemeClr val="dk1"/>
                </a:solidFill>
              </a:rPr>
              <a:t> (</a:t>
            </a:r>
            <a:r>
              <a:rPr i="1" lang="en">
                <a:solidFill>
                  <a:schemeClr val="dk1"/>
                </a:solidFill>
              </a:rPr>
              <a:t>analytical technique that measures the mass-to-charge ratio of its ions to identify chemical compositions of a sample</a:t>
            </a:r>
            <a:r>
              <a:rPr lang="en">
                <a:solidFill>
                  <a:schemeClr val="dk1"/>
                </a:solidFill>
              </a:rPr>
              <a:t>) and </a:t>
            </a:r>
            <a:r>
              <a:rPr b="1" lang="en">
                <a:solidFill>
                  <a:schemeClr val="dk1"/>
                </a:solidFill>
              </a:rPr>
              <a:t>equilibrium dialysis</a:t>
            </a:r>
            <a:r>
              <a:rPr lang="en">
                <a:solidFill>
                  <a:schemeClr val="dk1"/>
                </a:solidFill>
              </a:rPr>
              <a:t> (</a:t>
            </a:r>
            <a:r>
              <a:rPr i="1" lang="en">
                <a:solidFill>
                  <a:schemeClr val="dk1"/>
                </a:solidFill>
              </a:rPr>
              <a:t>a technique used to determine the extent to which a compound binds to a protein</a:t>
            </a:r>
            <a:r>
              <a:rPr lang="en">
                <a:solidFill>
                  <a:schemeClr val="dk1"/>
                </a:solidFill>
              </a:rPr>
              <a:t>) to help identify interactions between metabolites and proteins. And the reason this is important to biological database expansion and PMI discoveries is because MIDAS enables a systematic way to </a:t>
            </a:r>
            <a:r>
              <a:rPr lang="en">
                <a:solidFill>
                  <a:schemeClr val="dk1"/>
                </a:solidFill>
              </a:rPr>
              <a:t>identify</a:t>
            </a:r>
            <a:r>
              <a:rPr lang="en">
                <a:solidFill>
                  <a:schemeClr val="dk1"/>
                </a:solidFill>
              </a:rPr>
              <a:t> these protein </a:t>
            </a:r>
            <a:r>
              <a:rPr lang="en">
                <a:solidFill>
                  <a:schemeClr val="dk1"/>
                </a:solidFill>
              </a:rPr>
              <a:t>metabolite</a:t>
            </a:r>
            <a:r>
              <a:rPr lang="en">
                <a:solidFill>
                  <a:schemeClr val="dk1"/>
                </a:solidFill>
              </a:rPr>
              <a:t> interactions to provide richer interaction profiles.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SO using MIDAS, it helps scientists discover new regulatory roles for metabolites, understand metabolic control at the protein level, and uncover previously unknown biological pathways.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i="1" lang="en">
                <a:solidFill>
                  <a:schemeClr val="dk1"/>
                </a:solidFill>
              </a:rPr>
              <a:t>Only talk about if asked </a:t>
            </a:r>
            <a:r>
              <a:rPr i="1" lang="en">
                <a:solidFill>
                  <a:schemeClr val="dk1"/>
                </a:solidFill>
              </a:rPr>
              <a:t>about</a:t>
            </a:r>
            <a:r>
              <a:rPr i="1" lang="en">
                <a:solidFill>
                  <a:schemeClr val="dk1"/>
                </a:solidFill>
              </a:rPr>
              <a:t> MIDAS process:</a:t>
            </a:r>
            <a:endParaRPr i="1">
              <a:solidFill>
                <a:schemeClr val="dk1"/>
              </a:solidFill>
            </a:endParaRPr>
          </a:p>
          <a:p>
            <a:pPr indent="0" lvl="0" marL="0" rtl="0" algn="l">
              <a:lnSpc>
                <a:spcPct val="115000"/>
              </a:lnSpc>
              <a:spcBef>
                <a:spcPts val="1200"/>
              </a:spcBef>
              <a:spcAft>
                <a:spcPts val="0"/>
              </a:spcAft>
              <a:buNone/>
            </a:pPr>
            <a:r>
              <a:rPr lang="en">
                <a:solidFill>
                  <a:schemeClr val="dk1"/>
                </a:solidFill>
              </a:rPr>
              <a:t>Here on the right is a diagram depicting part of the MIDAS process, where purified proteins (the cyan colored nuggets) are placed behind a semi-permeable membrane (grey oval) in the presence of a metabolite mixture. And metabolites can freely diffuse across the membrane, except when they bind to the protein, which traps them on the protein side. After equilibrium, mass spectrometry quantifies metabolite levels on both sides, and enrichment on the protein side indicates a direct binding interaction</a:t>
            </a:r>
            <a:r>
              <a:rPr lang="en">
                <a:solidFill>
                  <a:schemeClr val="dk1"/>
                </a:solidFill>
              </a:rPr>
              <a:t>. SO using MIDAS, it </a:t>
            </a:r>
            <a:r>
              <a:rPr lang="en">
                <a:solidFill>
                  <a:schemeClr val="dk1"/>
                </a:solidFill>
              </a:rPr>
              <a:t>helps scientists discover new regulatory roles for metabolites</a:t>
            </a:r>
            <a:r>
              <a:rPr lang="en">
                <a:solidFill>
                  <a:schemeClr val="dk1"/>
                </a:solidFill>
              </a:rPr>
              <a:t>, </a:t>
            </a:r>
            <a:r>
              <a:rPr lang="en">
                <a:solidFill>
                  <a:schemeClr val="dk1"/>
                </a:solidFill>
              </a:rPr>
              <a:t>understand metabolic control at the protein level</a:t>
            </a:r>
            <a:r>
              <a:rPr lang="en">
                <a:solidFill>
                  <a:schemeClr val="dk1"/>
                </a:solidFill>
              </a:rPr>
              <a:t>, and uncover previously unknown biological pathways.</a:t>
            </a:r>
            <a:endParaRPr sz="9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73bda050fb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73bda050fb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HMDB stands for Human Metabolome Database (Canada), which is </a:t>
            </a:r>
            <a:r>
              <a:rPr lang="en"/>
              <a:t>just</a:t>
            </a:r>
            <a:r>
              <a:rPr lang="en"/>
              <a:t> like it sounds-- a database with detailed info about metabolites in the human body.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UniProt stands for the Universal Protein Resource (collaboration between US, UK, Switzerland), which is a comprehensive </a:t>
            </a:r>
            <a:r>
              <a:rPr lang="en"/>
              <a:t>resource</a:t>
            </a:r>
            <a:r>
              <a:rPr lang="en"/>
              <a:t> for protein sequence and annotation.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the 2 databases I integrated with MIDAS data.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73bda050f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73bda050fb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I will talk about my methods, which is essentially a flowchart showcasing my coding process to integrate HMDB and UniProt with MIDAS data.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flowchart, I categorized my work process into 5 sections: data input, pre-processing, HMDB mapping, interaction classification, and output/analysis.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not going to go through all these points, but to summarize the goal of each section, the goal of data input is to simply bring in all the necessary data files for metabolite matching. For pre-processing, the aim is to filter datasets to only retain metabolites that are present in both HMDB and MIDAS. For HMDB mapping, we took the matched HMDB IDs and looped it through each metabolite in MIDAS to find its associated UniProt protein. For interaction classification, the goal was to determine whether the protein-metabolite interactions were previously annotated (known) or potentially novel (unknown). For the last step (output and analysis), I filtered for significant PMIs (which was dictated by a q-value &lt; 0.01 and </a:t>
            </a:r>
            <a:r>
              <a:rPr lang="en"/>
              <a:t>log2 fold</a:t>
            </a:r>
            <a:r>
              <a:rPr lang="en"/>
              <a:t> change &gt; 1) and created visuals for these PMIs.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73bda050f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73bda050f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first visual, we have a bar graph showing the distribution of Known vs Novel Protein-Metabolite Interactions. And as we can see the majority of the PMIs in our dataset appear to be potentially novel, which is great because what this means is that the MIDAS data is uncovering new interactions not captured by </a:t>
            </a:r>
            <a:r>
              <a:rPr lang="en"/>
              <a:t>existing</a:t>
            </a:r>
            <a:r>
              <a:rPr lang="en"/>
              <a:t> databases.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73bda050fb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73bda050fb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bar plot, we are seeing the Top 10 significant proteins and metabolites with the most interactions. Most notably, if we look at Albumin, it has the most interactions </a:t>
            </a:r>
            <a:r>
              <a:rPr lang="en"/>
              <a:t>with</a:t>
            </a:r>
            <a:r>
              <a:rPr lang="en"/>
              <a:t> metabolites. Because Albumin is well-known to bind a wide range of metabolites and it’s high number of interactions matches the known biology, it can be said that this outcome supports the validity of our MIDAS processing and </a:t>
            </a:r>
            <a:r>
              <a:rPr lang="en"/>
              <a:t>significance</a:t>
            </a:r>
            <a:r>
              <a:rPr lang="en"/>
              <a:t> filtering pipeline.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73bda050fb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73bda050fb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visual, we have PCAs (or principal </a:t>
            </a:r>
            <a:r>
              <a:rPr lang="en"/>
              <a:t>component</a:t>
            </a:r>
            <a:r>
              <a:rPr lang="en"/>
              <a:t> analysis) of composite interaction scores. What we can see here in the left PCA is that there is cluster of CoA’s (</a:t>
            </a:r>
            <a:r>
              <a:rPr lang="en"/>
              <a:t>Butyryl</a:t>
            </a:r>
            <a:r>
              <a:rPr lang="en"/>
              <a:t>, Octanoyl, Butenoyl, Isovaleryl) possibly sharing binding behavior with the same protein, or we could infer there might also be CoA </a:t>
            </a:r>
            <a:r>
              <a:rPr lang="en"/>
              <a:t>regulating</a:t>
            </a:r>
            <a:r>
              <a:rPr lang="en"/>
              <a:t> several processes. An outlier like </a:t>
            </a:r>
            <a:r>
              <a:rPr lang="en"/>
              <a:t>Propionyl</a:t>
            </a:r>
            <a:r>
              <a:rPr lang="en"/>
              <a:t>-CoA could therefore indicate some novel interaction patterns since it is estranged from this cluster.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Shifting to the PCA on the right, we can look at it in a different way, being that we can see Albumin in the cluster of proteins, kind of near the center (indicating typical patterns), so again--the presence of Albumin in our PC</a:t>
            </a:r>
            <a:r>
              <a:rPr lang="en"/>
              <a:t>A </a:t>
            </a:r>
            <a:r>
              <a:rPr lang="en">
                <a:solidFill>
                  <a:schemeClr val="dk1"/>
                </a:solidFill>
              </a:rPr>
              <a:t>acts as a reliable internal reference, and its expected placement helps confirm that the composite interaction scores and overall pipeline are behaving biologically and analytically as they should.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Extra Info on PCA:</a:t>
            </a:r>
            <a:br>
              <a:rPr lang="en"/>
            </a:br>
            <a:r>
              <a:rPr lang="en"/>
              <a:t>-PCA helps summarize complex interaction data</a:t>
            </a:r>
            <a:endParaRPr/>
          </a:p>
          <a:p>
            <a:pPr indent="0" lvl="0" marL="0" rtl="0" algn="l">
              <a:spcBef>
                <a:spcPts val="0"/>
              </a:spcBef>
              <a:spcAft>
                <a:spcPts val="0"/>
              </a:spcAft>
              <a:buNone/>
            </a:pPr>
            <a:r>
              <a:rPr lang="en"/>
              <a:t>-</a:t>
            </a:r>
            <a:r>
              <a:rPr lang="en"/>
              <a:t>Each protein likely has a vector of composite scores for many metabolites. That’s hard to visualize directly, so PCA reduces those dimensions into PC1 and PC2 — two new variables that capture the most variation across all proteins’ interaction profiles.</a:t>
            </a:r>
            <a:endParaRPr/>
          </a:p>
          <a:p>
            <a:pPr indent="0" lvl="0" marL="0" rtl="0" algn="l">
              <a:spcBef>
                <a:spcPts val="0"/>
              </a:spcBef>
              <a:spcAft>
                <a:spcPts val="0"/>
              </a:spcAft>
              <a:buNone/>
            </a:pPr>
            <a:r>
              <a:rPr lang="en"/>
              <a:t>-</a:t>
            </a:r>
            <a:r>
              <a:rPr b="1" lang="en">
                <a:solidFill>
                  <a:schemeClr val="dk1"/>
                </a:solidFill>
              </a:rPr>
              <a:t>PC1 (x-axis)</a:t>
            </a:r>
            <a:r>
              <a:rPr lang="en">
                <a:solidFill>
                  <a:schemeClr val="dk1"/>
                </a:solidFill>
              </a:rPr>
              <a:t> explains </a:t>
            </a:r>
            <a:r>
              <a:rPr b="1" lang="en">
                <a:solidFill>
                  <a:schemeClr val="dk1"/>
                </a:solidFill>
              </a:rPr>
              <a:t>15.9%</a:t>
            </a:r>
            <a:r>
              <a:rPr lang="en">
                <a:solidFill>
                  <a:schemeClr val="dk1"/>
                </a:solidFill>
              </a:rPr>
              <a:t> of the total variation in the dataset.</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-PC2 (y-axis)</a:t>
            </a:r>
            <a:r>
              <a:rPr lang="en">
                <a:solidFill>
                  <a:schemeClr val="dk1"/>
                </a:solidFill>
              </a:rPr>
              <a:t> explains </a:t>
            </a:r>
            <a:r>
              <a:rPr b="1" lang="en">
                <a:solidFill>
                  <a:schemeClr val="dk1"/>
                </a:solidFill>
              </a:rPr>
              <a:t>15.4%</a:t>
            </a:r>
            <a:r>
              <a:rPr lang="en">
                <a:solidFill>
                  <a:schemeClr val="dk1"/>
                </a:solidFill>
              </a:rPr>
              <a:t>.</a:t>
            </a:r>
            <a:endParaRPr>
              <a:solidFill>
                <a:schemeClr val="dk1"/>
              </a:solidFill>
            </a:endParaRPr>
          </a:p>
          <a:p>
            <a:pPr indent="0" lvl="0" marL="0" rtl="0" algn="l">
              <a:spcBef>
                <a:spcPts val="0"/>
              </a:spcBef>
              <a:spcAft>
                <a:spcPts val="0"/>
              </a:spcAft>
              <a:buNone/>
            </a:pPr>
            <a:r>
              <a:rPr lang="en"/>
              <a:t>-</a:t>
            </a:r>
            <a:r>
              <a:rPr lang="en">
                <a:solidFill>
                  <a:schemeClr val="dk1"/>
                </a:solidFill>
              </a:rPr>
              <a:t>Each point represents a </a:t>
            </a:r>
            <a:r>
              <a:rPr b="1" lang="en">
                <a:solidFill>
                  <a:schemeClr val="dk1"/>
                </a:solidFill>
              </a:rPr>
              <a:t>protein</a:t>
            </a:r>
            <a:r>
              <a:rPr lang="en">
                <a:solidFill>
                  <a:schemeClr val="dk1"/>
                </a:solidFill>
              </a:rPr>
              <a:t>, positioned according to its overall interaction profile across metabolites.</a:t>
            </a:r>
            <a:br>
              <a:rPr lang="en">
                <a:solidFill>
                  <a:schemeClr val="dk1"/>
                </a:solidFill>
              </a:rPr>
            </a:br>
            <a:r>
              <a:rPr lang="en">
                <a:solidFill>
                  <a:schemeClr val="dk1"/>
                </a:solidFill>
              </a:rPr>
              <a:t>-Proteins that cluster near each other (e.g., ALB, GLOD5, KLHL2) have </a:t>
            </a:r>
            <a:r>
              <a:rPr b="1" lang="en">
                <a:solidFill>
                  <a:schemeClr val="dk1"/>
                </a:solidFill>
              </a:rPr>
              <a:t>similar metabolite interaction profiles</a:t>
            </a: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-Proteins far from the main cluster (e.g., </a:t>
            </a:r>
            <a:r>
              <a:rPr b="1" lang="en">
                <a:solidFill>
                  <a:schemeClr val="dk1"/>
                </a:solidFill>
              </a:rPr>
              <a:t>HSPA5</a:t>
            </a:r>
            <a:r>
              <a:rPr lang="en">
                <a:solidFill>
                  <a:schemeClr val="dk1"/>
                </a:solidFill>
              </a:rPr>
              <a:t>, </a:t>
            </a:r>
            <a:r>
              <a:rPr b="1" lang="en">
                <a:solidFill>
                  <a:schemeClr val="dk1"/>
                </a:solidFill>
              </a:rPr>
              <a:t>BCL2L2</a:t>
            </a:r>
            <a:r>
              <a:rPr lang="en">
                <a:solidFill>
                  <a:schemeClr val="dk1"/>
                </a:solidFill>
              </a:rPr>
              <a:t>, </a:t>
            </a:r>
            <a:r>
              <a:rPr b="1" lang="en">
                <a:solidFill>
                  <a:schemeClr val="dk1"/>
                </a:solidFill>
              </a:rPr>
              <a:t>SPOPL</a:t>
            </a:r>
            <a:r>
              <a:rPr lang="en">
                <a:solidFill>
                  <a:schemeClr val="dk1"/>
                </a:solidFill>
              </a:rPr>
              <a:t>) have </a:t>
            </a:r>
            <a:r>
              <a:rPr b="1" lang="en">
                <a:solidFill>
                  <a:schemeClr val="dk1"/>
                </a:solidFill>
              </a:rPr>
              <a:t>distinct interaction patterns</a:t>
            </a:r>
            <a:r>
              <a:rPr lang="en">
                <a:solidFill>
                  <a:schemeClr val="dk1"/>
                </a:solidFill>
              </a:rPr>
              <a:t>.</a:t>
            </a:r>
            <a:endParaRPr/>
          </a:p>
          <a:p>
            <a:pPr indent="0" lvl="0" marL="0" rtl="0" algn="l">
              <a:spcBef>
                <a:spcPts val="0"/>
              </a:spcBef>
              <a:spcAft>
                <a:spcPts val="0"/>
              </a:spcAft>
              <a:buNone/>
            </a:pPr>
            <a:r>
              <a:rPr lang="en"/>
              <a:t>-Composite score is referring to a single value that summarizes both </a:t>
            </a:r>
            <a:r>
              <a:rPr lang="en"/>
              <a:t>strength</a:t>
            </a:r>
            <a:r>
              <a:rPr lang="en"/>
              <a:t> and </a:t>
            </a:r>
            <a:r>
              <a:rPr lang="en"/>
              <a:t>statistical</a:t>
            </a:r>
            <a:r>
              <a:rPr lang="en"/>
              <a:t> </a:t>
            </a:r>
            <a:r>
              <a:rPr lang="en"/>
              <a:t>significance</a:t>
            </a:r>
            <a:r>
              <a:rPr lang="en"/>
              <a:t> of each PMI. So, what we are doing is multiplying the log2 fold change and log of the p-value to capture and combine the </a:t>
            </a:r>
            <a:r>
              <a:rPr lang="en"/>
              <a:t>magnitude</a:t>
            </a:r>
            <a:r>
              <a:rPr lang="en"/>
              <a:t> of change and confidence in the result.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73bda050fb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73bda050fb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volcano plot further supports the validity of the pipeline as we focus on albumin again (ALB). And as expected, many metabolites do not show statistically significant interactions (gray) with Albumin, while a subset shows significant enrichment (red). This distribution aligns with Albumins </a:t>
            </a:r>
            <a:r>
              <a:rPr lang="en"/>
              <a:t>tendency</a:t>
            </a:r>
            <a:r>
              <a:rPr lang="en"/>
              <a:t> to bind broadly but not universally or with high affinity, and the pattern seen here reinforces albumin’s utility as a biological benchmark to support that the pipeline is capturing a realistic interaction profile.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73bda050fb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73bda050fb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 we have a screenshot of the Shiny app my co-intern McKenna created. I handled the backend of this project, while she worked on the front end, user interface aspect of it, and it provides an interactive platform to explore protein–metabolite interaction data, enabling people to filter, visualize, and interpret datasets in real time. It supports variables like fold change, p-values, and protein/metabolite identities, with built-in visualizations (volcano plots, PCA, heat maps, etc.) that help users identify biologically meaningful patterns without needing to code. This makes the analysis more accessible, reproducible, and customizable for different research questions.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73bda050fb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73bda050fb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d5260bdd8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d5260bdd8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concluding statements:</a:t>
            </a:r>
            <a:br>
              <a:rPr lang="en"/>
            </a:br>
            <a:endParaRPr/>
          </a:p>
          <a:p>
            <a:pPr indent="0" lvl="0" marL="0" rtl="0" algn="l">
              <a:spcBef>
                <a:spcPts val="0"/>
              </a:spcBef>
              <a:spcAft>
                <a:spcPts val="0"/>
              </a:spcAft>
              <a:buNone/>
            </a:pPr>
            <a:r>
              <a:rPr lang="en"/>
              <a:t>We </a:t>
            </a:r>
            <a:r>
              <a:rPr lang="en"/>
              <a:t>concluded</a:t>
            </a:r>
            <a:r>
              <a:rPr lang="en"/>
              <a:t> that integrating MIDAS data with HMDB and UniProt annotations reveals that there are a good chunk of novel PMIs within our dataset, so our pipeline isn’t just regurgitating known biology, but it is also capable of </a:t>
            </a:r>
            <a:r>
              <a:rPr lang="en"/>
              <a:t>discovering new interactions.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also conclude that many of these PMIs are previously unreported, which means we are contributing to a deeper understanding of protein function and metabolism.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Additionally, </a:t>
            </a:r>
            <a:r>
              <a:rPr lang="en">
                <a:solidFill>
                  <a:schemeClr val="dk1"/>
                </a:solidFill>
              </a:rPr>
              <a:t>distinct clusters in our PCA mean that proteins and metabolites are interacting in biologically coherent ways—supporting the robustness and interpretability of your pipeline.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And lastly, we hope to incorporate other biological databases like BRENDA (BRaunschweig ENzyme Database--germany) for detailed information about enzymes and also integrate STITCH (Search Tool for Interacting CHemicals--china) for info about protein-chemical interactions, to enhance the depth of PMI annotations, so that later down the line, we can scale this pipeline to tackle larger and more diverse datasets.</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73bda050fb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73bda050fb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54dda1946d_4_2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54dda1946d_4_2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Paul and Kevin:</a:t>
            </a:r>
            <a:endParaRPr/>
          </a:p>
          <a:p>
            <a:pPr indent="0" lvl="0" marL="0" rtl="0" algn="l">
              <a:spcBef>
                <a:spcPts val="0"/>
              </a:spcBef>
              <a:spcAft>
                <a:spcPts val="0"/>
              </a:spcAft>
              <a:buNone/>
            </a:pPr>
            <a:r>
              <a:rPr lang="en"/>
              <a:t>Thank you for giving me the chance to work with you this summer and trusting me to create this tool</a:t>
            </a:r>
            <a:endParaRPr/>
          </a:p>
          <a:p>
            <a:pPr indent="0" lvl="0" marL="0" rtl="0" algn="l">
              <a:spcBef>
                <a:spcPts val="0"/>
              </a:spcBef>
              <a:spcAft>
                <a:spcPts val="0"/>
              </a:spcAft>
              <a:buNone/>
            </a:pPr>
            <a:r>
              <a:rPr lang="en"/>
              <a:t>-A super great learning experience working with the 2 of you</a:t>
            </a:r>
            <a:endParaRPr/>
          </a:p>
          <a:p>
            <a:pPr indent="0" lvl="0" marL="0" rtl="0" algn="l">
              <a:spcBef>
                <a:spcPts val="0"/>
              </a:spcBef>
              <a:spcAft>
                <a:spcPts val="0"/>
              </a:spcAft>
              <a:buNone/>
            </a:pPr>
            <a:r>
              <a:rPr lang="en"/>
              <a:t>-I think was also a really great </a:t>
            </a:r>
            <a:r>
              <a:rPr lang="en"/>
              <a:t>learning</a:t>
            </a:r>
            <a:r>
              <a:rPr lang="en"/>
              <a:t> experience for me to hone my data skills before heading off to graduate school, but also a humble reminder that I have a lot of room to improve my coding skills, but thank you again for your mentorship and your patience this summer, and I’m very </a:t>
            </a:r>
            <a:r>
              <a:rPr lang="en"/>
              <a:t>grateful</a:t>
            </a:r>
            <a:r>
              <a:rPr lang="en"/>
              <a:t> for the both of you</a:t>
            </a:r>
            <a:endParaRPr/>
          </a:p>
          <a:p>
            <a:pPr indent="0" lvl="0" marL="0" rtl="0" algn="l">
              <a:spcBef>
                <a:spcPts val="0"/>
              </a:spcBef>
              <a:spcAft>
                <a:spcPts val="0"/>
              </a:spcAft>
              <a:buNone/>
            </a:pPr>
            <a:r>
              <a:rPr lang="en"/>
              <a:t>-I’d also like to shoutout McKenna who created the front end of this process, so handling the user interface portion of the Shiny app, and just being a </a:t>
            </a:r>
            <a:r>
              <a:rPr lang="en"/>
              <a:t>wonderful</a:t>
            </a:r>
            <a:r>
              <a:rPr lang="en"/>
              <a:t> person to work with this summer</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73bda050fb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73bda050fb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51b1a71d38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51b1a71d38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73bda050fb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373bda050f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Most biomedical databases (like HMDB, UniProt, and others we’re integrating) are heavily biased toward data from populations of European descent. This creates blind spots in understanding disease mechanisms and limits the relevance of research findings for NHPI communities.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Our Vision for Inclusion:</a:t>
            </a:r>
            <a:br>
              <a:rPr b="1" lang="en">
                <a:solidFill>
                  <a:schemeClr val="dk1"/>
                </a:solidFill>
              </a:rPr>
            </a:br>
            <a:r>
              <a:rPr lang="en">
                <a:solidFill>
                  <a:schemeClr val="dk1"/>
                </a:solidFill>
              </a:rPr>
              <a:t>We aim to adapt our protein-metabolite interaction (PMI) pipeline so it can integrate diverse datasets—including those that represent NHPI biological samples—when and where they are available. This would ensure the discoveries our platform makes are inclusive, representative, and potentially useful for addressing health disparities.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156000"/>
            <a:ext cx="4160700" cy="2385600"/>
          </a:xfrm>
          <a:prstGeom prst="rect">
            <a:avLst/>
          </a:prstGeom>
        </p:spPr>
        <p:txBody>
          <a:bodyPr anchorCtr="0" anchor="b" bIns="91425" lIns="91425" spcFirstLastPara="1" rIns="91425" wrap="square" tIns="91425">
            <a:noAutofit/>
          </a:bodyPr>
          <a:lstStyle>
            <a:lvl1pPr lvl="0" algn="l">
              <a:spcBef>
                <a:spcPts val="0"/>
              </a:spcBef>
              <a:spcAft>
                <a:spcPts val="0"/>
              </a:spcAft>
              <a:buClr>
                <a:srgbClr val="191919"/>
              </a:buClr>
              <a:buSzPts val="5200"/>
              <a:buNone/>
              <a:defRPr sz="3600">
                <a:latin typeface="Outfit"/>
                <a:ea typeface="Outfit"/>
                <a:cs typeface="Outfit"/>
                <a:sym typeface="Outfi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541600"/>
            <a:ext cx="4160700" cy="42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713225" y="1468350"/>
            <a:ext cx="1264200" cy="9159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p:nvPr>
            <p:ph idx="1" type="subTitle"/>
          </p:nvPr>
        </p:nvSpPr>
        <p:spPr>
          <a:xfrm>
            <a:off x="713225" y="3300150"/>
            <a:ext cx="4344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grpSp>
        <p:nvGrpSpPr>
          <p:cNvPr id="16" name="Google Shape;16;p4"/>
          <p:cNvGrpSpPr/>
          <p:nvPr/>
        </p:nvGrpSpPr>
        <p:grpSpPr>
          <a:xfrm>
            <a:off x="-247298" y="-446215"/>
            <a:ext cx="9638600" cy="6030088"/>
            <a:chOff x="-247298" y="-446215"/>
            <a:chExt cx="9638600" cy="6030088"/>
          </a:xfrm>
        </p:grpSpPr>
        <p:sp>
          <p:nvSpPr>
            <p:cNvPr id="17" name="Google Shape;17;p4"/>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 name="Google Shape;26;p4"/>
          <p:cNvSpPr txBox="1"/>
          <p:nvPr>
            <p:ph idx="1" type="body"/>
          </p:nvPr>
        </p:nvSpPr>
        <p:spPr>
          <a:xfrm>
            <a:off x="720000" y="1215751"/>
            <a:ext cx="7704000" cy="397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grpSp>
        <p:nvGrpSpPr>
          <p:cNvPr id="28" name="Google Shape;28;p5"/>
          <p:cNvGrpSpPr/>
          <p:nvPr/>
        </p:nvGrpSpPr>
        <p:grpSpPr>
          <a:xfrm>
            <a:off x="-247298" y="-446215"/>
            <a:ext cx="9638600" cy="6030088"/>
            <a:chOff x="-247298" y="-446215"/>
            <a:chExt cx="9638600" cy="6030088"/>
          </a:xfrm>
        </p:grpSpPr>
        <p:sp>
          <p:nvSpPr>
            <p:cNvPr id="29" name="Google Shape;29;p5"/>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 name="Google Shape;38;p5"/>
          <p:cNvSpPr txBox="1"/>
          <p:nvPr>
            <p:ph idx="1" type="subTitle"/>
          </p:nvPr>
        </p:nvSpPr>
        <p:spPr>
          <a:xfrm>
            <a:off x="5055284" y="3562574"/>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5"/>
          <p:cNvSpPr txBox="1"/>
          <p:nvPr>
            <p:ph idx="2" type="subTitle"/>
          </p:nvPr>
        </p:nvSpPr>
        <p:spPr>
          <a:xfrm>
            <a:off x="1583300" y="3562574"/>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0" name="Google Shape;40;p5"/>
          <p:cNvSpPr txBox="1"/>
          <p:nvPr>
            <p:ph idx="3" type="subTitle"/>
          </p:nvPr>
        </p:nvSpPr>
        <p:spPr>
          <a:xfrm>
            <a:off x="5055275" y="312252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1" name="Google Shape;41;p5"/>
          <p:cNvSpPr txBox="1"/>
          <p:nvPr>
            <p:ph idx="4" type="subTitle"/>
          </p:nvPr>
        </p:nvSpPr>
        <p:spPr>
          <a:xfrm>
            <a:off x="1583075" y="312252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grpSp>
        <p:nvGrpSpPr>
          <p:cNvPr id="43" name="Google Shape;43;p6"/>
          <p:cNvGrpSpPr/>
          <p:nvPr/>
        </p:nvGrpSpPr>
        <p:grpSpPr>
          <a:xfrm>
            <a:off x="-247298" y="-284290"/>
            <a:ext cx="9638600" cy="5868163"/>
            <a:chOff x="-247298" y="-284290"/>
            <a:chExt cx="9638600" cy="5868163"/>
          </a:xfrm>
        </p:grpSpPr>
        <p:sp>
          <p:nvSpPr>
            <p:cNvPr id="44" name="Google Shape;44;p6"/>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flipH="1" rot="10800000">
              <a:off x="-125473"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flipH="1" rot="10800000">
              <a:off x="-125483"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flipH="1" rot="10800000">
              <a:off x="8424002"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flipH="1" rot="10800000">
              <a:off x="8423992"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7"/>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5" name="Google Shape;55;p7"/>
          <p:cNvSpPr txBox="1"/>
          <p:nvPr>
            <p:ph idx="1" type="subTitle"/>
          </p:nvPr>
        </p:nvSpPr>
        <p:spPr>
          <a:xfrm>
            <a:off x="720000" y="1652075"/>
            <a:ext cx="4294800" cy="21339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6" name="Shape 56"/>
        <p:cNvGrpSpPr/>
        <p:nvPr/>
      </p:nvGrpSpPr>
      <p:grpSpPr>
        <a:xfrm>
          <a:off x="0" y="0"/>
          <a:ext cx="0" cy="0"/>
          <a:chOff x="0" y="0"/>
          <a:chExt cx="0" cy="0"/>
        </a:xfrm>
      </p:grpSpPr>
      <p:sp>
        <p:nvSpPr>
          <p:cNvPr id="57" name="Google Shape;57;p8"/>
          <p:cNvSpPr txBox="1"/>
          <p:nvPr>
            <p:ph type="title"/>
          </p:nvPr>
        </p:nvSpPr>
        <p:spPr>
          <a:xfrm>
            <a:off x="4292275" y="1663850"/>
            <a:ext cx="4138500" cy="1815900"/>
          </a:xfrm>
          <a:prstGeom prst="rect">
            <a:avLst/>
          </a:prstGeom>
        </p:spPr>
        <p:txBody>
          <a:bodyPr anchorCtr="0" anchor="ctr" bIns="91425" lIns="91425" spcFirstLastPara="1" rIns="91425" wrap="square" tIns="91425">
            <a:noAutofit/>
          </a:bodyPr>
          <a:lstStyle>
            <a:lvl1pPr lvl="0" algn="l">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9"/>
          <p:cNvSpPr txBox="1"/>
          <p:nvPr>
            <p:ph type="title"/>
          </p:nvPr>
        </p:nvSpPr>
        <p:spPr>
          <a:xfrm>
            <a:off x="3862975" y="1655500"/>
            <a:ext cx="4567800" cy="11613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sz="6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60" name="Google Shape;60;p9"/>
          <p:cNvSpPr txBox="1"/>
          <p:nvPr>
            <p:ph idx="1" type="subTitle"/>
          </p:nvPr>
        </p:nvSpPr>
        <p:spPr>
          <a:xfrm>
            <a:off x="3862975" y="2816925"/>
            <a:ext cx="4567800" cy="671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1" name="Shape 61"/>
        <p:cNvGrpSpPr/>
        <p:nvPr/>
      </p:nvGrpSpPr>
      <p:grpSpPr>
        <a:xfrm>
          <a:off x="0" y="0"/>
          <a:ext cx="0" cy="0"/>
          <a:chOff x="0" y="0"/>
          <a:chExt cx="0" cy="0"/>
        </a:xfrm>
      </p:grpSpPr>
      <p:sp>
        <p:nvSpPr>
          <p:cNvPr id="62" name="Google Shape;62;p10"/>
          <p:cNvSpPr/>
          <p:nvPr>
            <p:ph idx="2" type="pic"/>
          </p:nvPr>
        </p:nvSpPr>
        <p:spPr>
          <a:xfrm>
            <a:off x="-25" y="-13725"/>
            <a:ext cx="9144000" cy="5157300"/>
          </a:xfrm>
          <a:prstGeom prst="rect">
            <a:avLst/>
          </a:prstGeom>
          <a:noFill/>
          <a:ln>
            <a:noFill/>
          </a:ln>
        </p:spPr>
      </p:sp>
      <p:sp>
        <p:nvSpPr>
          <p:cNvPr id="63" name="Google Shape;63;p10"/>
          <p:cNvSpPr txBox="1"/>
          <p:nvPr>
            <p:ph type="title"/>
          </p:nvPr>
        </p:nvSpPr>
        <p:spPr>
          <a:xfrm>
            <a:off x="720000" y="3942625"/>
            <a:ext cx="7704000" cy="6444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4" name="Shape 64"/>
        <p:cNvGrpSpPr/>
        <p:nvPr/>
      </p:nvGrpSpPr>
      <p:grpSpPr>
        <a:xfrm>
          <a:off x="0" y="0"/>
          <a:ext cx="0" cy="0"/>
          <a:chOff x="0" y="0"/>
          <a:chExt cx="0" cy="0"/>
        </a:xfrm>
      </p:grpSpPr>
      <p:sp>
        <p:nvSpPr>
          <p:cNvPr id="65" name="Google Shape;65;p11"/>
          <p:cNvSpPr txBox="1"/>
          <p:nvPr>
            <p:ph hasCustomPrompt="1" type="title"/>
          </p:nvPr>
        </p:nvSpPr>
        <p:spPr>
          <a:xfrm>
            <a:off x="713225" y="1774100"/>
            <a:ext cx="4676100" cy="1098000"/>
          </a:xfrm>
          <a:prstGeom prst="rect">
            <a:avLst/>
          </a:prstGeom>
        </p:spPr>
        <p:txBody>
          <a:bodyPr anchorCtr="0" anchor="b" bIns="91425" lIns="91425" spcFirstLastPara="1" rIns="91425" wrap="square" tIns="91425">
            <a:noAutofit/>
          </a:bodyPr>
          <a:lstStyle>
            <a:lvl1pPr lvl="0" algn="l">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6" name="Google Shape;66;p11"/>
          <p:cNvSpPr txBox="1"/>
          <p:nvPr>
            <p:ph idx="1" type="subTitle"/>
          </p:nvPr>
        </p:nvSpPr>
        <p:spPr>
          <a:xfrm>
            <a:off x="713225" y="2872275"/>
            <a:ext cx="4676100" cy="4971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8" name="Shape 68"/>
        <p:cNvGrpSpPr/>
        <p:nvPr/>
      </p:nvGrpSpPr>
      <p:grpSpPr>
        <a:xfrm>
          <a:off x="0" y="0"/>
          <a:ext cx="0" cy="0"/>
          <a:chOff x="0" y="0"/>
          <a:chExt cx="0" cy="0"/>
        </a:xfrm>
      </p:grpSpPr>
      <p:grpSp>
        <p:nvGrpSpPr>
          <p:cNvPr id="69" name="Google Shape;69;p13"/>
          <p:cNvGrpSpPr/>
          <p:nvPr/>
        </p:nvGrpSpPr>
        <p:grpSpPr>
          <a:xfrm>
            <a:off x="-417711" y="-428628"/>
            <a:ext cx="9979385" cy="6000759"/>
            <a:chOff x="-417711" y="-428628"/>
            <a:chExt cx="9979385" cy="6000759"/>
          </a:xfrm>
        </p:grpSpPr>
        <p:sp>
          <p:nvSpPr>
            <p:cNvPr id="70" name="Google Shape;70;p13"/>
            <p:cNvSpPr/>
            <p:nvPr/>
          </p:nvSpPr>
          <p:spPr>
            <a:xfrm>
              <a:off x="421002"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7884277"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a:off x="8430764"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a:off x="8430764"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p:nvPr/>
          </p:nvSpPr>
          <p:spPr>
            <a:xfrm>
              <a:off x="-125486"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3"/>
            <p:cNvSpPr/>
            <p:nvPr/>
          </p:nvSpPr>
          <p:spPr>
            <a:xfrm>
              <a:off x="-125486"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3"/>
            <p:cNvSpPr/>
            <p:nvPr/>
          </p:nvSpPr>
          <p:spPr>
            <a:xfrm>
              <a:off x="-417711"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872296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9" name="Google Shape;79;p13"/>
          <p:cNvSpPr txBox="1"/>
          <p:nvPr>
            <p:ph idx="1" type="subTitle"/>
          </p:nvPr>
        </p:nvSpPr>
        <p:spPr>
          <a:xfrm>
            <a:off x="720000" y="2178493"/>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 name="Google Shape;80;p13"/>
          <p:cNvSpPr txBox="1"/>
          <p:nvPr>
            <p:ph idx="2" type="subTitle"/>
          </p:nvPr>
        </p:nvSpPr>
        <p:spPr>
          <a:xfrm>
            <a:off x="3419271" y="2178493"/>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1" name="Google Shape;81;p13"/>
          <p:cNvSpPr txBox="1"/>
          <p:nvPr>
            <p:ph idx="3" type="subTitle"/>
          </p:nvPr>
        </p:nvSpPr>
        <p:spPr>
          <a:xfrm>
            <a:off x="720000" y="3911675"/>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 name="Google Shape;82;p13"/>
          <p:cNvSpPr txBox="1"/>
          <p:nvPr>
            <p:ph idx="4" type="subTitle"/>
          </p:nvPr>
        </p:nvSpPr>
        <p:spPr>
          <a:xfrm>
            <a:off x="3419271" y="3911675"/>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 name="Google Shape;83;p13"/>
          <p:cNvSpPr txBox="1"/>
          <p:nvPr>
            <p:ph idx="5" type="subTitle"/>
          </p:nvPr>
        </p:nvSpPr>
        <p:spPr>
          <a:xfrm>
            <a:off x="6118549" y="2178493"/>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 name="Google Shape;84;p13"/>
          <p:cNvSpPr txBox="1"/>
          <p:nvPr>
            <p:ph idx="6" type="subTitle"/>
          </p:nvPr>
        </p:nvSpPr>
        <p:spPr>
          <a:xfrm>
            <a:off x="6118549" y="3911675"/>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 name="Google Shape;85;p13"/>
          <p:cNvSpPr txBox="1"/>
          <p:nvPr>
            <p:ph hasCustomPrompt="1" idx="7" type="title"/>
          </p:nvPr>
        </p:nvSpPr>
        <p:spPr>
          <a:xfrm>
            <a:off x="1505400" y="1206926"/>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p:nvPr>
            <p:ph hasCustomPrompt="1" idx="8" type="title"/>
          </p:nvPr>
        </p:nvSpPr>
        <p:spPr>
          <a:xfrm>
            <a:off x="1505400" y="2939527"/>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7" name="Google Shape;87;p13"/>
          <p:cNvSpPr txBox="1"/>
          <p:nvPr>
            <p:ph hasCustomPrompt="1" idx="9" type="title"/>
          </p:nvPr>
        </p:nvSpPr>
        <p:spPr>
          <a:xfrm>
            <a:off x="4204671" y="1206926"/>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p:nvPr>
            <p:ph hasCustomPrompt="1" idx="13" type="title"/>
          </p:nvPr>
        </p:nvSpPr>
        <p:spPr>
          <a:xfrm>
            <a:off x="4204671" y="2939527"/>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p:nvPr>
            <p:ph hasCustomPrompt="1" idx="14" type="title"/>
          </p:nvPr>
        </p:nvSpPr>
        <p:spPr>
          <a:xfrm>
            <a:off x="6903950" y="1206926"/>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 name="Google Shape;90;p13"/>
          <p:cNvSpPr txBox="1"/>
          <p:nvPr>
            <p:ph hasCustomPrompt="1" idx="15" type="title"/>
          </p:nvPr>
        </p:nvSpPr>
        <p:spPr>
          <a:xfrm>
            <a:off x="6903950" y="2939527"/>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p:nvPr>
            <p:ph idx="16" type="subTitle"/>
          </p:nvPr>
        </p:nvSpPr>
        <p:spPr>
          <a:xfrm>
            <a:off x="720000" y="1801112"/>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2" name="Google Shape;92;p13"/>
          <p:cNvSpPr txBox="1"/>
          <p:nvPr>
            <p:ph idx="17" type="subTitle"/>
          </p:nvPr>
        </p:nvSpPr>
        <p:spPr>
          <a:xfrm>
            <a:off x="3419271" y="1801112"/>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3" name="Google Shape;93;p13"/>
          <p:cNvSpPr txBox="1"/>
          <p:nvPr>
            <p:ph idx="18" type="subTitle"/>
          </p:nvPr>
        </p:nvSpPr>
        <p:spPr>
          <a:xfrm>
            <a:off x="6118549" y="1801112"/>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4" name="Google Shape;94;p13"/>
          <p:cNvSpPr txBox="1"/>
          <p:nvPr>
            <p:ph idx="19" type="subTitle"/>
          </p:nvPr>
        </p:nvSpPr>
        <p:spPr>
          <a:xfrm>
            <a:off x="720000" y="3533775"/>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5" name="Google Shape;95;p13"/>
          <p:cNvSpPr txBox="1"/>
          <p:nvPr>
            <p:ph idx="20" type="subTitle"/>
          </p:nvPr>
        </p:nvSpPr>
        <p:spPr>
          <a:xfrm>
            <a:off x="3419271" y="3533775"/>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6" name="Google Shape;96;p13"/>
          <p:cNvSpPr txBox="1"/>
          <p:nvPr>
            <p:ph idx="21" type="subTitle"/>
          </p:nvPr>
        </p:nvSpPr>
        <p:spPr>
          <a:xfrm>
            <a:off x="6118549" y="3533775"/>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7" name="Shape 97"/>
        <p:cNvGrpSpPr/>
        <p:nvPr/>
      </p:nvGrpSpPr>
      <p:grpSpPr>
        <a:xfrm>
          <a:off x="0" y="0"/>
          <a:ext cx="0" cy="0"/>
          <a:chOff x="0" y="0"/>
          <a:chExt cx="0" cy="0"/>
        </a:xfrm>
      </p:grpSpPr>
      <p:grpSp>
        <p:nvGrpSpPr>
          <p:cNvPr id="98" name="Google Shape;98;p14"/>
          <p:cNvGrpSpPr/>
          <p:nvPr/>
        </p:nvGrpSpPr>
        <p:grpSpPr>
          <a:xfrm>
            <a:off x="-247298" y="-446215"/>
            <a:ext cx="9638600" cy="6030088"/>
            <a:chOff x="-247298" y="-446215"/>
            <a:chExt cx="9638600" cy="6030088"/>
          </a:xfrm>
        </p:grpSpPr>
        <p:sp>
          <p:nvSpPr>
            <p:cNvPr id="99" name="Google Shape;99;p14"/>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14"/>
          <p:cNvSpPr txBox="1"/>
          <p:nvPr>
            <p:ph type="title"/>
          </p:nvPr>
        </p:nvSpPr>
        <p:spPr>
          <a:xfrm>
            <a:off x="1226425" y="3229500"/>
            <a:ext cx="6691200" cy="547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08" name="Google Shape;108;p14"/>
          <p:cNvSpPr txBox="1"/>
          <p:nvPr>
            <p:ph idx="1" type="subTitle"/>
          </p:nvPr>
        </p:nvSpPr>
        <p:spPr>
          <a:xfrm>
            <a:off x="1226413" y="1366200"/>
            <a:ext cx="6691200" cy="1863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09" name="Shape 109"/>
        <p:cNvGrpSpPr/>
        <p:nvPr/>
      </p:nvGrpSpPr>
      <p:grpSpPr>
        <a:xfrm>
          <a:off x="0" y="0"/>
          <a:ext cx="0" cy="0"/>
          <a:chOff x="0" y="0"/>
          <a:chExt cx="0" cy="0"/>
        </a:xfrm>
      </p:grpSpPr>
      <p:grpSp>
        <p:nvGrpSpPr>
          <p:cNvPr id="110" name="Google Shape;110;p15"/>
          <p:cNvGrpSpPr/>
          <p:nvPr/>
        </p:nvGrpSpPr>
        <p:grpSpPr>
          <a:xfrm>
            <a:off x="-535133" y="-37823"/>
            <a:ext cx="10207495" cy="5621696"/>
            <a:chOff x="-535133" y="-37823"/>
            <a:chExt cx="10207495" cy="5621696"/>
          </a:xfrm>
        </p:grpSpPr>
        <p:sp>
          <p:nvSpPr>
            <p:cNvPr id="111" name="Google Shape;111;p15"/>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20" name="Shape 120"/>
        <p:cNvGrpSpPr/>
        <p:nvPr/>
      </p:nvGrpSpPr>
      <p:grpSpPr>
        <a:xfrm>
          <a:off x="0" y="0"/>
          <a:ext cx="0" cy="0"/>
          <a:chOff x="0" y="0"/>
          <a:chExt cx="0" cy="0"/>
        </a:xfrm>
      </p:grpSpPr>
      <p:grpSp>
        <p:nvGrpSpPr>
          <p:cNvPr id="121" name="Google Shape;121;p16"/>
          <p:cNvGrpSpPr/>
          <p:nvPr/>
        </p:nvGrpSpPr>
        <p:grpSpPr>
          <a:xfrm>
            <a:off x="-247298" y="-446215"/>
            <a:ext cx="9638610" cy="6030088"/>
            <a:chOff x="-247298" y="-446215"/>
            <a:chExt cx="9638610" cy="6030088"/>
          </a:xfrm>
        </p:grpSpPr>
        <p:sp>
          <p:nvSpPr>
            <p:cNvPr id="122" name="Google Shape;122;p16"/>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 name="Google Shape;130;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131" name="Shape 131"/>
        <p:cNvGrpSpPr/>
        <p:nvPr/>
      </p:nvGrpSpPr>
      <p:grpSpPr>
        <a:xfrm>
          <a:off x="0" y="0"/>
          <a:ext cx="0" cy="0"/>
          <a:chOff x="0" y="0"/>
          <a:chExt cx="0" cy="0"/>
        </a:xfrm>
      </p:grpSpPr>
      <p:grpSp>
        <p:nvGrpSpPr>
          <p:cNvPr id="132" name="Google Shape;132;p17"/>
          <p:cNvGrpSpPr/>
          <p:nvPr/>
        </p:nvGrpSpPr>
        <p:grpSpPr>
          <a:xfrm>
            <a:off x="-548808" y="-584898"/>
            <a:ext cx="10241610" cy="6168779"/>
            <a:chOff x="-548808" y="-584898"/>
            <a:chExt cx="10241610" cy="6168779"/>
          </a:xfrm>
        </p:grpSpPr>
        <p:sp>
          <p:nvSpPr>
            <p:cNvPr id="133" name="Google Shape;133;p17"/>
            <p:cNvSpPr/>
            <p:nvPr/>
          </p:nvSpPr>
          <p:spPr>
            <a:xfrm>
              <a:off x="293877" y="46157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flipH="1" rot="10800000">
              <a:off x="-129123"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flipH="1" rot="10800000">
              <a:off x="-548808"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7"/>
            <p:cNvSpPr/>
            <p:nvPr/>
          </p:nvSpPr>
          <p:spPr>
            <a:xfrm>
              <a:off x="1851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7"/>
            <p:cNvSpPr/>
            <p:nvPr/>
          </p:nvSpPr>
          <p:spPr>
            <a:xfrm rot="10800000">
              <a:off x="8434407"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rot="10800000">
              <a:off x="8854092"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7"/>
            <p:cNvSpPr/>
            <p:nvPr/>
          </p:nvSpPr>
          <p:spPr>
            <a:xfrm flipH="1">
              <a:off x="81200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 name="Google Shape;14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142" name="Shape 142"/>
        <p:cNvGrpSpPr/>
        <p:nvPr/>
      </p:nvGrpSpPr>
      <p:grpSpPr>
        <a:xfrm>
          <a:off x="0" y="0"/>
          <a:ext cx="0" cy="0"/>
          <a:chOff x="0" y="0"/>
          <a:chExt cx="0" cy="0"/>
        </a:xfrm>
      </p:grpSpPr>
      <p:sp>
        <p:nvSpPr>
          <p:cNvPr id="143" name="Google Shape;143;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44" name="Google Shape;144;p18"/>
          <p:cNvGrpSpPr/>
          <p:nvPr/>
        </p:nvGrpSpPr>
        <p:grpSpPr>
          <a:xfrm>
            <a:off x="-476796" y="2900252"/>
            <a:ext cx="10097585" cy="2865204"/>
            <a:chOff x="-476796" y="2900252"/>
            <a:chExt cx="10097585" cy="2865204"/>
          </a:xfrm>
        </p:grpSpPr>
        <p:grpSp>
          <p:nvGrpSpPr>
            <p:cNvPr id="145" name="Google Shape;145;p18"/>
            <p:cNvGrpSpPr/>
            <p:nvPr/>
          </p:nvGrpSpPr>
          <p:grpSpPr>
            <a:xfrm>
              <a:off x="-476796" y="2900252"/>
              <a:ext cx="10097585" cy="2865204"/>
              <a:chOff x="-476796" y="2900252"/>
              <a:chExt cx="10097585" cy="2865204"/>
            </a:xfrm>
          </p:grpSpPr>
          <p:sp>
            <p:nvSpPr>
              <p:cNvPr id="146" name="Google Shape;146;p18"/>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 name="Google Shape;153;p18"/>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54" name="Shape 154"/>
        <p:cNvGrpSpPr/>
        <p:nvPr/>
      </p:nvGrpSpPr>
      <p:grpSpPr>
        <a:xfrm>
          <a:off x="0" y="0"/>
          <a:ext cx="0" cy="0"/>
          <a:chOff x="0" y="0"/>
          <a:chExt cx="0" cy="0"/>
        </a:xfrm>
      </p:grpSpPr>
      <p:grpSp>
        <p:nvGrpSpPr>
          <p:cNvPr id="155" name="Google Shape;155;p19"/>
          <p:cNvGrpSpPr/>
          <p:nvPr/>
        </p:nvGrpSpPr>
        <p:grpSpPr>
          <a:xfrm>
            <a:off x="-145083" y="-503840"/>
            <a:ext cx="9434170" cy="6151188"/>
            <a:chOff x="-145083" y="-503840"/>
            <a:chExt cx="9434170" cy="6151188"/>
          </a:xfrm>
        </p:grpSpPr>
        <p:sp>
          <p:nvSpPr>
            <p:cNvPr id="156" name="Google Shape;156;p19"/>
            <p:cNvSpPr/>
            <p:nvPr/>
          </p:nvSpPr>
          <p:spPr>
            <a:xfrm flipH="1" rot="10800000">
              <a:off x="534577" y="46792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9"/>
            <p:cNvSpPr/>
            <p:nvPr/>
          </p:nvSpPr>
          <p:spPr>
            <a:xfrm>
              <a:off x="-145073" y="392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p:nvPr/>
          </p:nvSpPr>
          <p:spPr>
            <a:xfrm>
              <a:off x="-145083" y="44198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flipH="1">
              <a:off x="8430777" y="46443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flipH="1" rot="10800000">
              <a:off x="-125483" y="-4286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flipH="1">
              <a:off x="7770717" y="-5038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p:nvPr/>
          </p:nvSpPr>
          <p:spPr>
            <a:xfrm rot="10800000">
              <a:off x="8450367" y="2513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p:nvPr/>
          </p:nvSpPr>
          <p:spPr>
            <a:xfrm rot="10800000">
              <a:off x="8450377" y="-2444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 name="Google Shape;164;p19"/>
          <p:cNvSpPr txBox="1"/>
          <p:nvPr>
            <p:ph type="title"/>
          </p:nvPr>
        </p:nvSpPr>
        <p:spPr>
          <a:xfrm>
            <a:off x="720000" y="1270313"/>
            <a:ext cx="3777300" cy="1709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5" name="Google Shape;165;p19"/>
          <p:cNvSpPr txBox="1"/>
          <p:nvPr>
            <p:ph idx="1" type="subTitle"/>
          </p:nvPr>
        </p:nvSpPr>
        <p:spPr>
          <a:xfrm>
            <a:off x="720000" y="2979813"/>
            <a:ext cx="3777300" cy="893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6" name="Google Shape;166;p19"/>
          <p:cNvSpPr/>
          <p:nvPr>
            <p:ph idx="2" type="pic"/>
          </p:nvPr>
        </p:nvSpPr>
        <p:spPr>
          <a:xfrm>
            <a:off x="5121925" y="1060325"/>
            <a:ext cx="3109200" cy="3109200"/>
          </a:xfrm>
          <a:prstGeom prst="ellipse">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67" name="Shape 167"/>
        <p:cNvGrpSpPr/>
        <p:nvPr/>
      </p:nvGrpSpPr>
      <p:grpSpPr>
        <a:xfrm>
          <a:off x="0" y="0"/>
          <a:ext cx="0" cy="0"/>
          <a:chOff x="0" y="0"/>
          <a:chExt cx="0" cy="0"/>
        </a:xfrm>
      </p:grpSpPr>
      <p:grpSp>
        <p:nvGrpSpPr>
          <p:cNvPr id="168" name="Google Shape;168;p20"/>
          <p:cNvGrpSpPr/>
          <p:nvPr/>
        </p:nvGrpSpPr>
        <p:grpSpPr>
          <a:xfrm>
            <a:off x="-247298" y="-446215"/>
            <a:ext cx="9638600" cy="6030088"/>
            <a:chOff x="-247298" y="-446215"/>
            <a:chExt cx="9638600" cy="6030088"/>
          </a:xfrm>
        </p:grpSpPr>
        <p:sp>
          <p:nvSpPr>
            <p:cNvPr id="169" name="Google Shape;169;p20"/>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0"/>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0"/>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0"/>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0"/>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0"/>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20"/>
          <p:cNvSpPr txBox="1"/>
          <p:nvPr>
            <p:ph type="title"/>
          </p:nvPr>
        </p:nvSpPr>
        <p:spPr>
          <a:xfrm>
            <a:off x="720000" y="1637550"/>
            <a:ext cx="3597900" cy="1063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8" name="Google Shape;178;p20"/>
          <p:cNvSpPr txBox="1"/>
          <p:nvPr>
            <p:ph idx="1" type="subTitle"/>
          </p:nvPr>
        </p:nvSpPr>
        <p:spPr>
          <a:xfrm>
            <a:off x="720000" y="2700750"/>
            <a:ext cx="3597900" cy="805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79" name="Shape 179"/>
        <p:cNvGrpSpPr/>
        <p:nvPr/>
      </p:nvGrpSpPr>
      <p:grpSpPr>
        <a:xfrm>
          <a:off x="0" y="0"/>
          <a:ext cx="0" cy="0"/>
          <a:chOff x="0" y="0"/>
          <a:chExt cx="0" cy="0"/>
        </a:xfrm>
      </p:grpSpPr>
      <p:grpSp>
        <p:nvGrpSpPr>
          <p:cNvPr id="180" name="Google Shape;180;p21"/>
          <p:cNvGrpSpPr/>
          <p:nvPr/>
        </p:nvGrpSpPr>
        <p:grpSpPr>
          <a:xfrm flipH="1">
            <a:off x="-247298" y="-446215"/>
            <a:ext cx="9638600" cy="6030088"/>
            <a:chOff x="-247298" y="-446215"/>
            <a:chExt cx="9638600" cy="6030088"/>
          </a:xfrm>
        </p:grpSpPr>
        <p:sp>
          <p:nvSpPr>
            <p:cNvPr id="181" name="Google Shape;181;p21"/>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1"/>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1"/>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1"/>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1"/>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1"/>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1"/>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1"/>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 name="Google Shape;189;p21"/>
          <p:cNvSpPr txBox="1"/>
          <p:nvPr>
            <p:ph type="title"/>
          </p:nvPr>
        </p:nvSpPr>
        <p:spPr>
          <a:xfrm>
            <a:off x="4837200" y="1796350"/>
            <a:ext cx="35934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0" name="Google Shape;190;p21"/>
          <p:cNvSpPr txBox="1"/>
          <p:nvPr>
            <p:ph idx="1" type="subTitle"/>
          </p:nvPr>
        </p:nvSpPr>
        <p:spPr>
          <a:xfrm>
            <a:off x="4837375" y="2441150"/>
            <a:ext cx="3593400" cy="9060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91" name="Shape 191"/>
        <p:cNvGrpSpPr/>
        <p:nvPr/>
      </p:nvGrpSpPr>
      <p:grpSpPr>
        <a:xfrm>
          <a:off x="0" y="0"/>
          <a:ext cx="0" cy="0"/>
          <a:chOff x="0" y="0"/>
          <a:chExt cx="0" cy="0"/>
        </a:xfrm>
      </p:grpSpPr>
      <p:grpSp>
        <p:nvGrpSpPr>
          <p:cNvPr id="192" name="Google Shape;192;p22"/>
          <p:cNvGrpSpPr/>
          <p:nvPr/>
        </p:nvGrpSpPr>
        <p:grpSpPr>
          <a:xfrm>
            <a:off x="-247298" y="-446215"/>
            <a:ext cx="9638600" cy="6030088"/>
            <a:chOff x="-247298" y="-446215"/>
            <a:chExt cx="9638600" cy="6030088"/>
          </a:xfrm>
        </p:grpSpPr>
        <p:sp>
          <p:nvSpPr>
            <p:cNvPr id="193" name="Google Shape;193;p22"/>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2"/>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2"/>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2"/>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2"/>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2"/>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2"/>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2"/>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 name="Google Shape;201;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2" name="Google Shape;202;p22"/>
          <p:cNvSpPr txBox="1"/>
          <p:nvPr>
            <p:ph idx="1" type="body"/>
          </p:nvPr>
        </p:nvSpPr>
        <p:spPr>
          <a:xfrm>
            <a:off x="720000" y="1215742"/>
            <a:ext cx="7704000" cy="10221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a:lvl1pPr>
            <a:lvl2pPr indent="-317500" lvl="1" marL="914400" rtl="0">
              <a:lnSpc>
                <a:spcPct val="100000"/>
              </a:lnSpc>
              <a:spcBef>
                <a:spcPts val="0"/>
              </a:spcBef>
              <a:spcAft>
                <a:spcPts val="0"/>
              </a:spcAft>
              <a:buClr>
                <a:srgbClr val="1A1A1A"/>
              </a:buClr>
              <a:buSzPts val="1400"/>
              <a:buFont typeface="Nunito Light"/>
              <a:buChar char="○"/>
              <a:defRPr/>
            </a:lvl2pPr>
            <a:lvl3pPr indent="-317500" lvl="2" marL="1371600" rtl="0">
              <a:lnSpc>
                <a:spcPct val="100000"/>
              </a:lnSpc>
              <a:spcBef>
                <a:spcPts val="0"/>
              </a:spcBef>
              <a:spcAft>
                <a:spcPts val="0"/>
              </a:spcAft>
              <a:buClr>
                <a:srgbClr val="1A1A1A"/>
              </a:buClr>
              <a:buSzPts val="1400"/>
              <a:buFont typeface="Nunito Light"/>
              <a:buChar char="■"/>
              <a:defRPr/>
            </a:lvl3pPr>
            <a:lvl4pPr indent="-317500" lvl="3" marL="1828800" rtl="0">
              <a:lnSpc>
                <a:spcPct val="100000"/>
              </a:lnSpc>
              <a:spcBef>
                <a:spcPts val="0"/>
              </a:spcBef>
              <a:spcAft>
                <a:spcPts val="0"/>
              </a:spcAft>
              <a:buClr>
                <a:srgbClr val="1A1A1A"/>
              </a:buClr>
              <a:buSzPts val="1400"/>
              <a:buFont typeface="Nunito Light"/>
              <a:buChar char="●"/>
              <a:defRPr/>
            </a:lvl4pPr>
            <a:lvl5pPr indent="-317500" lvl="4" marL="2286000" rtl="0">
              <a:lnSpc>
                <a:spcPct val="100000"/>
              </a:lnSpc>
              <a:spcBef>
                <a:spcPts val="0"/>
              </a:spcBef>
              <a:spcAft>
                <a:spcPts val="0"/>
              </a:spcAft>
              <a:buClr>
                <a:srgbClr val="1A1A1A"/>
              </a:buClr>
              <a:buSzPts val="1400"/>
              <a:buFont typeface="Nunito Light"/>
              <a:buChar char="○"/>
              <a:defRPr/>
            </a:lvl5pPr>
            <a:lvl6pPr indent="-317500" lvl="5" marL="2743200" rtl="0">
              <a:lnSpc>
                <a:spcPct val="100000"/>
              </a:lnSpc>
              <a:spcBef>
                <a:spcPts val="0"/>
              </a:spcBef>
              <a:spcAft>
                <a:spcPts val="0"/>
              </a:spcAft>
              <a:buClr>
                <a:srgbClr val="1A1A1A"/>
              </a:buClr>
              <a:buSzPts val="1400"/>
              <a:buFont typeface="Nunito Light"/>
              <a:buChar char="■"/>
              <a:defRPr/>
            </a:lvl6pPr>
            <a:lvl7pPr indent="-317500" lvl="6" marL="3200400" rtl="0">
              <a:lnSpc>
                <a:spcPct val="100000"/>
              </a:lnSpc>
              <a:spcBef>
                <a:spcPts val="0"/>
              </a:spcBef>
              <a:spcAft>
                <a:spcPts val="0"/>
              </a:spcAft>
              <a:buClr>
                <a:srgbClr val="1A1A1A"/>
              </a:buClr>
              <a:buSzPts val="1400"/>
              <a:buFont typeface="Nunito Light"/>
              <a:buChar char="●"/>
              <a:defRPr/>
            </a:lvl7pPr>
            <a:lvl8pPr indent="-317500" lvl="7" marL="3657600" rtl="0">
              <a:lnSpc>
                <a:spcPct val="100000"/>
              </a:lnSpc>
              <a:spcBef>
                <a:spcPts val="0"/>
              </a:spcBef>
              <a:spcAft>
                <a:spcPts val="0"/>
              </a:spcAft>
              <a:buClr>
                <a:srgbClr val="1A1A1A"/>
              </a:buClr>
              <a:buSzPts val="1400"/>
              <a:buFont typeface="Nunito Light"/>
              <a:buChar char="○"/>
              <a:defRPr/>
            </a:lvl8pPr>
            <a:lvl9pPr indent="-317500" lvl="8" marL="4114800" rtl="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1_1">
    <p:spTree>
      <p:nvGrpSpPr>
        <p:cNvPr id="203" name="Shape 203"/>
        <p:cNvGrpSpPr/>
        <p:nvPr/>
      </p:nvGrpSpPr>
      <p:grpSpPr>
        <a:xfrm>
          <a:off x="0" y="0"/>
          <a:ext cx="0" cy="0"/>
          <a:chOff x="0" y="0"/>
          <a:chExt cx="0" cy="0"/>
        </a:xfrm>
      </p:grpSpPr>
      <p:grpSp>
        <p:nvGrpSpPr>
          <p:cNvPr id="204" name="Google Shape;204;p23"/>
          <p:cNvGrpSpPr/>
          <p:nvPr/>
        </p:nvGrpSpPr>
        <p:grpSpPr>
          <a:xfrm>
            <a:off x="-535133" y="-37823"/>
            <a:ext cx="10207495" cy="5621696"/>
            <a:chOff x="-535133" y="-37823"/>
            <a:chExt cx="10207495" cy="5621696"/>
          </a:xfrm>
        </p:grpSpPr>
        <p:sp>
          <p:nvSpPr>
            <p:cNvPr id="205" name="Google Shape;205;p23"/>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3"/>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3"/>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3"/>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3"/>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3"/>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3"/>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3"/>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 name="Google Shape;213;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4" name="Google Shape;214;p23"/>
          <p:cNvSpPr txBox="1"/>
          <p:nvPr>
            <p:ph idx="1" type="body"/>
          </p:nvPr>
        </p:nvSpPr>
        <p:spPr>
          <a:xfrm>
            <a:off x="720000" y="1215749"/>
            <a:ext cx="7704000" cy="31452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a:lvl1pPr>
            <a:lvl2pPr indent="-317500" lvl="1" marL="914400" rtl="0">
              <a:lnSpc>
                <a:spcPct val="100000"/>
              </a:lnSpc>
              <a:spcBef>
                <a:spcPts val="0"/>
              </a:spcBef>
              <a:spcAft>
                <a:spcPts val="0"/>
              </a:spcAft>
              <a:buClr>
                <a:srgbClr val="1A1A1A"/>
              </a:buClr>
              <a:buSzPts val="1400"/>
              <a:buFont typeface="Nunito Light"/>
              <a:buChar char="○"/>
              <a:defRPr/>
            </a:lvl2pPr>
            <a:lvl3pPr indent="-317500" lvl="2" marL="1371600" rtl="0">
              <a:lnSpc>
                <a:spcPct val="100000"/>
              </a:lnSpc>
              <a:spcBef>
                <a:spcPts val="0"/>
              </a:spcBef>
              <a:spcAft>
                <a:spcPts val="0"/>
              </a:spcAft>
              <a:buClr>
                <a:srgbClr val="1A1A1A"/>
              </a:buClr>
              <a:buSzPts val="1400"/>
              <a:buFont typeface="Nunito Light"/>
              <a:buChar char="■"/>
              <a:defRPr/>
            </a:lvl3pPr>
            <a:lvl4pPr indent="-317500" lvl="3" marL="1828800" rtl="0">
              <a:lnSpc>
                <a:spcPct val="100000"/>
              </a:lnSpc>
              <a:spcBef>
                <a:spcPts val="0"/>
              </a:spcBef>
              <a:spcAft>
                <a:spcPts val="0"/>
              </a:spcAft>
              <a:buClr>
                <a:srgbClr val="1A1A1A"/>
              </a:buClr>
              <a:buSzPts val="1400"/>
              <a:buFont typeface="Nunito Light"/>
              <a:buChar char="●"/>
              <a:defRPr/>
            </a:lvl4pPr>
            <a:lvl5pPr indent="-317500" lvl="4" marL="2286000" rtl="0">
              <a:lnSpc>
                <a:spcPct val="100000"/>
              </a:lnSpc>
              <a:spcBef>
                <a:spcPts val="0"/>
              </a:spcBef>
              <a:spcAft>
                <a:spcPts val="0"/>
              </a:spcAft>
              <a:buClr>
                <a:srgbClr val="1A1A1A"/>
              </a:buClr>
              <a:buSzPts val="1400"/>
              <a:buFont typeface="Nunito Light"/>
              <a:buChar char="○"/>
              <a:defRPr/>
            </a:lvl5pPr>
            <a:lvl6pPr indent="-317500" lvl="5" marL="2743200" rtl="0">
              <a:lnSpc>
                <a:spcPct val="100000"/>
              </a:lnSpc>
              <a:spcBef>
                <a:spcPts val="0"/>
              </a:spcBef>
              <a:spcAft>
                <a:spcPts val="0"/>
              </a:spcAft>
              <a:buClr>
                <a:srgbClr val="1A1A1A"/>
              </a:buClr>
              <a:buSzPts val="1400"/>
              <a:buFont typeface="Nunito Light"/>
              <a:buChar char="■"/>
              <a:defRPr/>
            </a:lvl6pPr>
            <a:lvl7pPr indent="-317500" lvl="6" marL="3200400" rtl="0">
              <a:lnSpc>
                <a:spcPct val="100000"/>
              </a:lnSpc>
              <a:spcBef>
                <a:spcPts val="0"/>
              </a:spcBef>
              <a:spcAft>
                <a:spcPts val="0"/>
              </a:spcAft>
              <a:buClr>
                <a:srgbClr val="1A1A1A"/>
              </a:buClr>
              <a:buSzPts val="1400"/>
              <a:buFont typeface="Nunito Light"/>
              <a:buChar char="●"/>
              <a:defRPr/>
            </a:lvl7pPr>
            <a:lvl8pPr indent="-317500" lvl="7" marL="3657600" rtl="0">
              <a:lnSpc>
                <a:spcPct val="100000"/>
              </a:lnSpc>
              <a:spcBef>
                <a:spcPts val="0"/>
              </a:spcBef>
              <a:spcAft>
                <a:spcPts val="0"/>
              </a:spcAft>
              <a:buClr>
                <a:srgbClr val="1A1A1A"/>
              </a:buClr>
              <a:buSzPts val="1400"/>
              <a:buFont typeface="Nunito Light"/>
              <a:buChar char="○"/>
              <a:defRPr/>
            </a:lvl8pPr>
            <a:lvl9pPr indent="-317500" lvl="8" marL="4114800" rtl="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15" name="Shape 215"/>
        <p:cNvGrpSpPr/>
        <p:nvPr/>
      </p:nvGrpSpPr>
      <p:grpSpPr>
        <a:xfrm>
          <a:off x="0" y="0"/>
          <a:ext cx="0" cy="0"/>
          <a:chOff x="0" y="0"/>
          <a:chExt cx="0" cy="0"/>
        </a:xfrm>
      </p:grpSpPr>
      <p:grpSp>
        <p:nvGrpSpPr>
          <p:cNvPr id="216" name="Google Shape;216;p24"/>
          <p:cNvGrpSpPr/>
          <p:nvPr/>
        </p:nvGrpSpPr>
        <p:grpSpPr>
          <a:xfrm>
            <a:off x="-310473" y="3500727"/>
            <a:ext cx="9764950" cy="2327954"/>
            <a:chOff x="-310473" y="3500727"/>
            <a:chExt cx="9764950" cy="2327954"/>
          </a:xfrm>
        </p:grpSpPr>
        <p:sp>
          <p:nvSpPr>
            <p:cNvPr id="217" name="Google Shape;217;p24"/>
            <p:cNvSpPr/>
            <p:nvPr/>
          </p:nvSpPr>
          <p:spPr>
            <a:xfrm flipH="1" rot="10800000">
              <a:off x="927364"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4"/>
            <p:cNvSpPr/>
            <p:nvPr/>
          </p:nvSpPr>
          <p:spPr>
            <a:xfrm flipH="1" rot="10800000">
              <a:off x="273054"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4"/>
            <p:cNvSpPr/>
            <p:nvPr/>
          </p:nvSpPr>
          <p:spPr>
            <a:xfrm>
              <a:off x="-310473"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4"/>
            <p:cNvSpPr/>
            <p:nvPr/>
          </p:nvSpPr>
          <p:spPr>
            <a:xfrm>
              <a:off x="-125483"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4"/>
            <p:cNvSpPr/>
            <p:nvPr/>
          </p:nvSpPr>
          <p:spPr>
            <a:xfrm flipH="1">
              <a:off x="8615767"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4"/>
            <p:cNvSpPr/>
            <p:nvPr/>
          </p:nvSpPr>
          <p:spPr>
            <a:xfrm flipH="1">
              <a:off x="8424002"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4"/>
            <p:cNvSpPr/>
            <p:nvPr/>
          </p:nvSpPr>
          <p:spPr>
            <a:xfrm rot="10800000">
              <a:off x="7377929"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p:nvPr/>
          </p:nvSpPr>
          <p:spPr>
            <a:xfrm rot="10800000">
              <a:off x="8032239"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 name="Google Shape;225;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6" name="Google Shape;226;p24"/>
          <p:cNvSpPr txBox="1"/>
          <p:nvPr>
            <p:ph idx="1" type="subTitle"/>
          </p:nvPr>
        </p:nvSpPr>
        <p:spPr>
          <a:xfrm>
            <a:off x="4821081" y="2782975"/>
            <a:ext cx="2844000" cy="116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7" name="Google Shape;227;p24"/>
          <p:cNvSpPr txBox="1"/>
          <p:nvPr>
            <p:ph idx="2" type="subTitle"/>
          </p:nvPr>
        </p:nvSpPr>
        <p:spPr>
          <a:xfrm>
            <a:off x="1478950" y="2782975"/>
            <a:ext cx="2844000" cy="116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8" name="Google Shape;228;p24"/>
          <p:cNvSpPr txBox="1"/>
          <p:nvPr>
            <p:ph idx="3" type="subTitle"/>
          </p:nvPr>
        </p:nvSpPr>
        <p:spPr>
          <a:xfrm>
            <a:off x="1478950" y="2370625"/>
            <a:ext cx="28440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29" name="Google Shape;229;p24"/>
          <p:cNvSpPr txBox="1"/>
          <p:nvPr>
            <p:ph idx="4" type="subTitle"/>
          </p:nvPr>
        </p:nvSpPr>
        <p:spPr>
          <a:xfrm>
            <a:off x="4821091" y="2370625"/>
            <a:ext cx="28440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30" name="Shape 230"/>
        <p:cNvGrpSpPr/>
        <p:nvPr/>
      </p:nvGrpSpPr>
      <p:grpSpPr>
        <a:xfrm>
          <a:off x="0" y="0"/>
          <a:ext cx="0" cy="0"/>
          <a:chOff x="0" y="0"/>
          <a:chExt cx="0" cy="0"/>
        </a:xfrm>
      </p:grpSpPr>
      <p:grpSp>
        <p:nvGrpSpPr>
          <p:cNvPr id="231" name="Google Shape;231;p25"/>
          <p:cNvGrpSpPr/>
          <p:nvPr/>
        </p:nvGrpSpPr>
        <p:grpSpPr>
          <a:xfrm>
            <a:off x="-655296" y="3436585"/>
            <a:ext cx="10454595" cy="2311221"/>
            <a:chOff x="-655296" y="3436585"/>
            <a:chExt cx="10454595" cy="2311221"/>
          </a:xfrm>
        </p:grpSpPr>
        <p:sp>
          <p:nvSpPr>
            <p:cNvPr id="232" name="Google Shape;232;p25"/>
            <p:cNvSpPr/>
            <p:nvPr/>
          </p:nvSpPr>
          <p:spPr>
            <a:xfrm flipH="1" rot="10800000">
              <a:off x="-136836"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5"/>
            <p:cNvSpPr/>
            <p:nvPr/>
          </p:nvSpPr>
          <p:spPr>
            <a:xfrm>
              <a:off x="183414"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5"/>
            <p:cNvSpPr/>
            <p:nvPr/>
          </p:nvSpPr>
          <p:spPr>
            <a:xfrm flipH="1" rot="10800000">
              <a:off x="-655296"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5"/>
            <p:cNvSpPr/>
            <p:nvPr/>
          </p:nvSpPr>
          <p:spPr>
            <a:xfrm rot="10800000">
              <a:off x="8442129"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5"/>
            <p:cNvSpPr/>
            <p:nvPr/>
          </p:nvSpPr>
          <p:spPr>
            <a:xfrm flipH="1">
              <a:off x="8121879"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5"/>
            <p:cNvSpPr/>
            <p:nvPr/>
          </p:nvSpPr>
          <p:spPr>
            <a:xfrm rot="10800000">
              <a:off x="8960589"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
            <p:cNvSpPr/>
            <p:nvPr/>
          </p:nvSpPr>
          <p:spPr>
            <a:xfrm rot="10800000">
              <a:off x="7718714"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5"/>
            <p:cNvSpPr/>
            <p:nvPr/>
          </p:nvSpPr>
          <p:spPr>
            <a:xfrm rot="10800000">
              <a:off x="586589"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0" name="Google Shape;240;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1" name="Google Shape;241;p25"/>
          <p:cNvSpPr txBox="1"/>
          <p:nvPr>
            <p:ph idx="1" type="subTitle"/>
          </p:nvPr>
        </p:nvSpPr>
        <p:spPr>
          <a:xfrm>
            <a:off x="4646250" y="1667625"/>
            <a:ext cx="3398400" cy="1899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2" name="Google Shape;242;p25"/>
          <p:cNvSpPr txBox="1"/>
          <p:nvPr>
            <p:ph idx="2" type="subTitle"/>
          </p:nvPr>
        </p:nvSpPr>
        <p:spPr>
          <a:xfrm>
            <a:off x="1099338" y="1667625"/>
            <a:ext cx="3398400" cy="1899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43" name="Shape 243"/>
        <p:cNvGrpSpPr/>
        <p:nvPr/>
      </p:nvGrpSpPr>
      <p:grpSpPr>
        <a:xfrm>
          <a:off x="0" y="0"/>
          <a:ext cx="0" cy="0"/>
          <a:chOff x="0" y="0"/>
          <a:chExt cx="0" cy="0"/>
        </a:xfrm>
      </p:grpSpPr>
      <p:grpSp>
        <p:nvGrpSpPr>
          <p:cNvPr id="244" name="Google Shape;244;p26"/>
          <p:cNvGrpSpPr/>
          <p:nvPr/>
        </p:nvGrpSpPr>
        <p:grpSpPr>
          <a:xfrm>
            <a:off x="-512036" y="-358023"/>
            <a:ext cx="10169413" cy="5930154"/>
            <a:chOff x="-512036" y="-358023"/>
            <a:chExt cx="10169413" cy="5930154"/>
          </a:xfrm>
        </p:grpSpPr>
        <p:sp>
          <p:nvSpPr>
            <p:cNvPr id="245" name="Google Shape;245;p26"/>
            <p:cNvSpPr/>
            <p:nvPr/>
          </p:nvSpPr>
          <p:spPr>
            <a:xfrm flipH="1">
              <a:off x="8430767"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6"/>
            <p:cNvSpPr/>
            <p:nvPr/>
          </p:nvSpPr>
          <p:spPr>
            <a:xfrm rot="10800000">
              <a:off x="8818667"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6"/>
            <p:cNvSpPr/>
            <p:nvPr/>
          </p:nvSpPr>
          <p:spPr>
            <a:xfrm rot="10800000">
              <a:off x="801141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
            <p:cNvSpPr/>
            <p:nvPr/>
          </p:nvSpPr>
          <p:spPr>
            <a:xfrm flipH="1">
              <a:off x="8430777"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6"/>
            <p:cNvSpPr/>
            <p:nvPr/>
          </p:nvSpPr>
          <p:spPr>
            <a:xfrm>
              <a:off x="-124136"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6"/>
            <p:cNvSpPr/>
            <p:nvPr/>
          </p:nvSpPr>
          <p:spPr>
            <a:xfrm flipH="1" rot="10800000">
              <a:off x="-512036"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6"/>
            <p:cNvSpPr/>
            <p:nvPr/>
          </p:nvSpPr>
          <p:spPr>
            <a:xfrm flipH="1" rot="10800000">
              <a:off x="295217"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6"/>
            <p:cNvSpPr/>
            <p:nvPr/>
          </p:nvSpPr>
          <p:spPr>
            <a:xfrm>
              <a:off x="-124133"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3" name="Google Shape;253;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4" name="Google Shape;254;p26"/>
          <p:cNvSpPr txBox="1"/>
          <p:nvPr>
            <p:ph idx="1" type="subTitle"/>
          </p:nvPr>
        </p:nvSpPr>
        <p:spPr>
          <a:xfrm>
            <a:off x="881225" y="2768751"/>
            <a:ext cx="2288100" cy="89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5" name="Google Shape;255;p26"/>
          <p:cNvSpPr txBox="1"/>
          <p:nvPr>
            <p:ph idx="2" type="subTitle"/>
          </p:nvPr>
        </p:nvSpPr>
        <p:spPr>
          <a:xfrm>
            <a:off x="3427950" y="2768751"/>
            <a:ext cx="2288100" cy="89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6" name="Google Shape;256;p26"/>
          <p:cNvSpPr txBox="1"/>
          <p:nvPr>
            <p:ph idx="3" type="subTitle"/>
          </p:nvPr>
        </p:nvSpPr>
        <p:spPr>
          <a:xfrm>
            <a:off x="5974700" y="2768751"/>
            <a:ext cx="2288100" cy="89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7" name="Google Shape;257;p26"/>
          <p:cNvSpPr txBox="1"/>
          <p:nvPr>
            <p:ph idx="4" type="subTitle"/>
          </p:nvPr>
        </p:nvSpPr>
        <p:spPr>
          <a:xfrm>
            <a:off x="881225" y="2250275"/>
            <a:ext cx="22881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8" name="Google Shape;258;p26"/>
          <p:cNvSpPr txBox="1"/>
          <p:nvPr>
            <p:ph idx="5" type="subTitle"/>
          </p:nvPr>
        </p:nvSpPr>
        <p:spPr>
          <a:xfrm>
            <a:off x="3427954" y="2250275"/>
            <a:ext cx="22881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9" name="Google Shape;259;p26"/>
          <p:cNvSpPr txBox="1"/>
          <p:nvPr>
            <p:ph idx="6" type="subTitle"/>
          </p:nvPr>
        </p:nvSpPr>
        <p:spPr>
          <a:xfrm>
            <a:off x="5974700" y="2250275"/>
            <a:ext cx="22881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60" name="Shape 260"/>
        <p:cNvGrpSpPr/>
        <p:nvPr/>
      </p:nvGrpSpPr>
      <p:grpSpPr>
        <a:xfrm>
          <a:off x="0" y="0"/>
          <a:ext cx="0" cy="0"/>
          <a:chOff x="0" y="0"/>
          <a:chExt cx="0" cy="0"/>
        </a:xfrm>
      </p:grpSpPr>
      <p:grpSp>
        <p:nvGrpSpPr>
          <p:cNvPr id="261" name="Google Shape;261;p27"/>
          <p:cNvGrpSpPr/>
          <p:nvPr/>
        </p:nvGrpSpPr>
        <p:grpSpPr>
          <a:xfrm>
            <a:off x="-519458" y="2674710"/>
            <a:ext cx="10224210" cy="2744938"/>
            <a:chOff x="-519458" y="2674710"/>
            <a:chExt cx="10224210" cy="2744938"/>
          </a:xfrm>
        </p:grpSpPr>
        <p:sp>
          <p:nvSpPr>
            <p:cNvPr id="262" name="Google Shape;262;p27"/>
            <p:cNvSpPr/>
            <p:nvPr/>
          </p:nvSpPr>
          <p:spPr>
            <a:xfrm flipH="1" rot="10800000">
              <a:off x="-118698"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7"/>
            <p:cNvSpPr/>
            <p:nvPr/>
          </p:nvSpPr>
          <p:spPr>
            <a:xfrm flipH="1" rot="10800000">
              <a:off x="-519458"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
            <p:cNvSpPr/>
            <p:nvPr/>
          </p:nvSpPr>
          <p:spPr>
            <a:xfrm>
              <a:off x="-519448"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7"/>
            <p:cNvSpPr/>
            <p:nvPr/>
          </p:nvSpPr>
          <p:spPr>
            <a:xfrm>
              <a:off x="213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
            <p:cNvSpPr/>
            <p:nvPr/>
          </p:nvSpPr>
          <p:spPr>
            <a:xfrm rot="10800000">
              <a:off x="8465282"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rot="10800000">
              <a:off x="8866042"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7"/>
            <p:cNvSpPr/>
            <p:nvPr/>
          </p:nvSpPr>
          <p:spPr>
            <a:xfrm flipH="1">
              <a:off x="8866032"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
            <p:cNvSpPr/>
            <p:nvPr/>
          </p:nvSpPr>
          <p:spPr>
            <a:xfrm flipH="1">
              <a:off x="83251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 name="Google Shape;270;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1" name="Google Shape;271;p27"/>
          <p:cNvSpPr txBox="1"/>
          <p:nvPr>
            <p:ph idx="1" type="subTitle"/>
          </p:nvPr>
        </p:nvSpPr>
        <p:spPr>
          <a:xfrm>
            <a:off x="1142950" y="2219063"/>
            <a:ext cx="3251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2" name="Google Shape;272;p27"/>
          <p:cNvSpPr txBox="1"/>
          <p:nvPr>
            <p:ph idx="2" type="subTitle"/>
          </p:nvPr>
        </p:nvSpPr>
        <p:spPr>
          <a:xfrm>
            <a:off x="4749341" y="2219063"/>
            <a:ext cx="3251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3" name="Google Shape;273;p27"/>
          <p:cNvSpPr txBox="1"/>
          <p:nvPr>
            <p:ph idx="3" type="subTitle"/>
          </p:nvPr>
        </p:nvSpPr>
        <p:spPr>
          <a:xfrm>
            <a:off x="1142950" y="4010313"/>
            <a:ext cx="3251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4" name="Google Shape;274;p27"/>
          <p:cNvSpPr txBox="1"/>
          <p:nvPr>
            <p:ph idx="4" type="subTitle"/>
          </p:nvPr>
        </p:nvSpPr>
        <p:spPr>
          <a:xfrm>
            <a:off x="4749341" y="4010313"/>
            <a:ext cx="3251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5" name="Google Shape;275;p27"/>
          <p:cNvSpPr txBox="1"/>
          <p:nvPr>
            <p:ph idx="5" type="subTitle"/>
          </p:nvPr>
        </p:nvSpPr>
        <p:spPr>
          <a:xfrm>
            <a:off x="1142962" y="1860588"/>
            <a:ext cx="32517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6" name="Google Shape;276;p27"/>
          <p:cNvSpPr txBox="1"/>
          <p:nvPr>
            <p:ph idx="6" type="subTitle"/>
          </p:nvPr>
        </p:nvSpPr>
        <p:spPr>
          <a:xfrm>
            <a:off x="1142962" y="3651938"/>
            <a:ext cx="32517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7" name="Google Shape;277;p27"/>
          <p:cNvSpPr txBox="1"/>
          <p:nvPr>
            <p:ph idx="7" type="subTitle"/>
          </p:nvPr>
        </p:nvSpPr>
        <p:spPr>
          <a:xfrm>
            <a:off x="4749338" y="1860588"/>
            <a:ext cx="32517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8" name="Google Shape;278;p27"/>
          <p:cNvSpPr txBox="1"/>
          <p:nvPr>
            <p:ph idx="8" type="subTitle"/>
          </p:nvPr>
        </p:nvSpPr>
        <p:spPr>
          <a:xfrm>
            <a:off x="4749338" y="3651938"/>
            <a:ext cx="32517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79" name="Shape 279"/>
        <p:cNvGrpSpPr/>
        <p:nvPr/>
      </p:nvGrpSpPr>
      <p:grpSpPr>
        <a:xfrm>
          <a:off x="0" y="0"/>
          <a:ext cx="0" cy="0"/>
          <a:chOff x="0" y="0"/>
          <a:chExt cx="0" cy="0"/>
        </a:xfrm>
      </p:grpSpPr>
      <p:grpSp>
        <p:nvGrpSpPr>
          <p:cNvPr id="280" name="Google Shape;280;p28"/>
          <p:cNvGrpSpPr/>
          <p:nvPr/>
        </p:nvGrpSpPr>
        <p:grpSpPr>
          <a:xfrm>
            <a:off x="-266473" y="3341397"/>
            <a:ext cx="9676960" cy="2321921"/>
            <a:chOff x="-266473" y="3341397"/>
            <a:chExt cx="9676960" cy="2321921"/>
          </a:xfrm>
        </p:grpSpPr>
        <p:sp>
          <p:nvSpPr>
            <p:cNvPr id="281" name="Google Shape;281;p28"/>
            <p:cNvSpPr/>
            <p:nvPr/>
          </p:nvSpPr>
          <p:spPr>
            <a:xfrm flipH="1">
              <a:off x="744167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8"/>
            <p:cNvSpPr/>
            <p:nvPr/>
          </p:nvSpPr>
          <p:spPr>
            <a:xfrm>
              <a:off x="86361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8"/>
            <p:cNvSpPr/>
            <p:nvPr/>
          </p:nvSpPr>
          <p:spPr>
            <a:xfrm flipH="1" rot="10800000">
              <a:off x="-266473"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8"/>
            <p:cNvSpPr/>
            <p:nvPr/>
          </p:nvSpPr>
          <p:spPr>
            <a:xfrm>
              <a:off x="15286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8"/>
            <p:cNvSpPr/>
            <p:nvPr/>
          </p:nvSpPr>
          <p:spPr>
            <a:xfrm flipH="1" rot="10800000">
              <a:off x="-151033"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8"/>
            <p:cNvSpPr/>
            <p:nvPr/>
          </p:nvSpPr>
          <p:spPr>
            <a:xfrm rot="10800000">
              <a:off x="8571777"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8"/>
            <p:cNvSpPr/>
            <p:nvPr/>
          </p:nvSpPr>
          <p:spPr>
            <a:xfrm flipH="1">
              <a:off x="815243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8"/>
            <p:cNvSpPr/>
            <p:nvPr/>
          </p:nvSpPr>
          <p:spPr>
            <a:xfrm rot="10800000">
              <a:off x="8456337"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9" name="Google Shape;289;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0" name="Google Shape;290;p28"/>
          <p:cNvSpPr txBox="1"/>
          <p:nvPr>
            <p:ph idx="1" type="subTitle"/>
          </p:nvPr>
        </p:nvSpPr>
        <p:spPr>
          <a:xfrm>
            <a:off x="968524" y="2235613"/>
            <a:ext cx="22662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1" name="Google Shape;291;p28"/>
          <p:cNvSpPr txBox="1"/>
          <p:nvPr>
            <p:ph idx="2" type="subTitle"/>
          </p:nvPr>
        </p:nvSpPr>
        <p:spPr>
          <a:xfrm>
            <a:off x="3439063" y="2235613"/>
            <a:ext cx="2265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2" name="Google Shape;292;p28"/>
          <p:cNvSpPr txBox="1"/>
          <p:nvPr>
            <p:ph idx="3" type="subTitle"/>
          </p:nvPr>
        </p:nvSpPr>
        <p:spPr>
          <a:xfrm>
            <a:off x="968524" y="3967325"/>
            <a:ext cx="22662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 name="Google Shape;293;p28"/>
          <p:cNvSpPr txBox="1"/>
          <p:nvPr>
            <p:ph idx="4" type="subTitle"/>
          </p:nvPr>
        </p:nvSpPr>
        <p:spPr>
          <a:xfrm>
            <a:off x="3439063" y="3967325"/>
            <a:ext cx="2265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4" name="Google Shape;294;p28"/>
          <p:cNvSpPr txBox="1"/>
          <p:nvPr>
            <p:ph idx="5" type="subTitle"/>
          </p:nvPr>
        </p:nvSpPr>
        <p:spPr>
          <a:xfrm>
            <a:off x="5909375" y="2235613"/>
            <a:ext cx="2265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5" name="Google Shape;295;p28"/>
          <p:cNvSpPr txBox="1"/>
          <p:nvPr>
            <p:ph idx="6" type="subTitle"/>
          </p:nvPr>
        </p:nvSpPr>
        <p:spPr>
          <a:xfrm>
            <a:off x="5909375" y="3967325"/>
            <a:ext cx="2265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6" name="Google Shape;296;p28"/>
          <p:cNvSpPr txBox="1"/>
          <p:nvPr>
            <p:ph idx="7" type="subTitle"/>
          </p:nvPr>
        </p:nvSpPr>
        <p:spPr>
          <a:xfrm>
            <a:off x="968524" y="1890138"/>
            <a:ext cx="2266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7" name="Google Shape;297;p28"/>
          <p:cNvSpPr txBox="1"/>
          <p:nvPr>
            <p:ph idx="8" type="subTitle"/>
          </p:nvPr>
        </p:nvSpPr>
        <p:spPr>
          <a:xfrm>
            <a:off x="3439063" y="1890138"/>
            <a:ext cx="2265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8" name="Google Shape;298;p28"/>
          <p:cNvSpPr txBox="1"/>
          <p:nvPr>
            <p:ph idx="9" type="subTitle"/>
          </p:nvPr>
        </p:nvSpPr>
        <p:spPr>
          <a:xfrm>
            <a:off x="5909375" y="1890138"/>
            <a:ext cx="2265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9" name="Google Shape;299;p28"/>
          <p:cNvSpPr txBox="1"/>
          <p:nvPr>
            <p:ph idx="13" type="subTitle"/>
          </p:nvPr>
        </p:nvSpPr>
        <p:spPr>
          <a:xfrm>
            <a:off x="968524" y="3621825"/>
            <a:ext cx="2266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0" name="Google Shape;300;p28"/>
          <p:cNvSpPr txBox="1"/>
          <p:nvPr>
            <p:ph idx="14" type="subTitle"/>
          </p:nvPr>
        </p:nvSpPr>
        <p:spPr>
          <a:xfrm>
            <a:off x="3439063" y="3621825"/>
            <a:ext cx="2265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1" name="Google Shape;301;p28"/>
          <p:cNvSpPr txBox="1"/>
          <p:nvPr>
            <p:ph idx="15" type="subTitle"/>
          </p:nvPr>
        </p:nvSpPr>
        <p:spPr>
          <a:xfrm>
            <a:off x="5909375" y="3621825"/>
            <a:ext cx="2265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02" name="Shape 302"/>
        <p:cNvGrpSpPr/>
        <p:nvPr/>
      </p:nvGrpSpPr>
      <p:grpSpPr>
        <a:xfrm>
          <a:off x="0" y="0"/>
          <a:ext cx="0" cy="0"/>
          <a:chOff x="0" y="0"/>
          <a:chExt cx="0" cy="0"/>
        </a:xfrm>
      </p:grpSpPr>
      <p:sp>
        <p:nvSpPr>
          <p:cNvPr id="303" name="Google Shape;303;p29"/>
          <p:cNvSpPr txBox="1"/>
          <p:nvPr>
            <p:ph hasCustomPrompt="1" type="title"/>
          </p:nvPr>
        </p:nvSpPr>
        <p:spPr>
          <a:xfrm>
            <a:off x="4351975" y="638350"/>
            <a:ext cx="40788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04" name="Google Shape;304;p29"/>
          <p:cNvSpPr txBox="1"/>
          <p:nvPr>
            <p:ph idx="1" type="subTitle"/>
          </p:nvPr>
        </p:nvSpPr>
        <p:spPr>
          <a:xfrm>
            <a:off x="4351975" y="1327275"/>
            <a:ext cx="4078800" cy="4191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05" name="Google Shape;305;p29"/>
          <p:cNvSpPr txBox="1"/>
          <p:nvPr>
            <p:ph hasCustomPrompt="1" idx="2" type="title"/>
          </p:nvPr>
        </p:nvSpPr>
        <p:spPr>
          <a:xfrm>
            <a:off x="4351975" y="1990612"/>
            <a:ext cx="40788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06" name="Google Shape;306;p29"/>
          <p:cNvSpPr txBox="1"/>
          <p:nvPr>
            <p:ph idx="3" type="subTitle"/>
          </p:nvPr>
        </p:nvSpPr>
        <p:spPr>
          <a:xfrm>
            <a:off x="4351975" y="2679529"/>
            <a:ext cx="4078800" cy="4191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07" name="Google Shape;307;p29"/>
          <p:cNvSpPr txBox="1"/>
          <p:nvPr>
            <p:ph hasCustomPrompt="1" idx="4" type="title"/>
          </p:nvPr>
        </p:nvSpPr>
        <p:spPr>
          <a:xfrm>
            <a:off x="4351975" y="3342874"/>
            <a:ext cx="40788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08" name="Google Shape;308;p29"/>
          <p:cNvSpPr txBox="1"/>
          <p:nvPr>
            <p:ph idx="5" type="subTitle"/>
          </p:nvPr>
        </p:nvSpPr>
        <p:spPr>
          <a:xfrm>
            <a:off x="4351975" y="4031799"/>
            <a:ext cx="4078800" cy="4191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09" name="Shape 309"/>
        <p:cNvGrpSpPr/>
        <p:nvPr/>
      </p:nvGrpSpPr>
      <p:grpSpPr>
        <a:xfrm>
          <a:off x="0" y="0"/>
          <a:ext cx="0" cy="0"/>
          <a:chOff x="0" y="0"/>
          <a:chExt cx="0" cy="0"/>
        </a:xfrm>
      </p:grpSpPr>
      <p:sp>
        <p:nvSpPr>
          <p:cNvPr id="310" name="Google Shape;310;p30"/>
          <p:cNvSpPr txBox="1"/>
          <p:nvPr>
            <p:ph type="title"/>
          </p:nvPr>
        </p:nvSpPr>
        <p:spPr>
          <a:xfrm>
            <a:off x="713225" y="677525"/>
            <a:ext cx="5094600" cy="1058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11" name="Google Shape;311;p30"/>
          <p:cNvSpPr txBox="1"/>
          <p:nvPr>
            <p:ph idx="1" type="subTitle"/>
          </p:nvPr>
        </p:nvSpPr>
        <p:spPr>
          <a:xfrm>
            <a:off x="713225" y="1841450"/>
            <a:ext cx="50946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2" name="Google Shape;312;p30"/>
          <p:cNvSpPr txBox="1"/>
          <p:nvPr/>
        </p:nvSpPr>
        <p:spPr>
          <a:xfrm>
            <a:off x="713225" y="3611950"/>
            <a:ext cx="50946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u="sng">
                <a:solidFill>
                  <a:schemeClr val="dk1"/>
                </a:solidFill>
                <a:latin typeface="DM Sans"/>
                <a:ea typeface="DM Sans"/>
                <a:cs typeface="DM Sans"/>
                <a:sym typeface="DM Sans"/>
                <a:hlinkClick r:id="rId2">
                  <a:extLst>
                    <a:ext uri="{A12FA001-AC4F-418D-AE19-62706E023703}">
                      <ahyp:hlinkClr val="tx"/>
                    </a:ext>
                  </a:extLst>
                </a:hlinkClick>
              </a:rPr>
              <a:t>Slidesgo</a:t>
            </a:r>
            <a:r>
              <a:rPr lang="en" sz="1200">
                <a:solidFill>
                  <a:schemeClr val="dk1"/>
                </a:solidFill>
                <a:latin typeface="DM Sans"/>
                <a:ea typeface="DM Sans"/>
                <a:cs typeface="DM Sans"/>
                <a:sym typeface="DM Sans"/>
              </a:rPr>
              <a:t>, and includes icons by </a:t>
            </a:r>
            <a:r>
              <a:rPr b="1" lang="en" sz="1200" u="sng">
                <a:solidFill>
                  <a:schemeClr val="dk1"/>
                </a:solidFill>
                <a:latin typeface="DM Sans"/>
                <a:ea typeface="DM Sans"/>
                <a:cs typeface="DM Sans"/>
                <a:sym typeface="DM Sans"/>
                <a:hlinkClick r:id="rId3">
                  <a:extLst>
                    <a:ext uri="{A12FA001-AC4F-418D-AE19-62706E023703}">
                      <ahyp:hlinkClr val="tx"/>
                    </a:ext>
                  </a:extLst>
                </a:hlinkClick>
              </a:rPr>
              <a:t>Flaticon</a:t>
            </a:r>
            <a:r>
              <a:rPr lang="en" sz="1200">
                <a:solidFill>
                  <a:schemeClr val="dk1"/>
                </a:solidFill>
                <a:latin typeface="DM Sans"/>
                <a:ea typeface="DM Sans"/>
                <a:cs typeface="DM Sans"/>
                <a:sym typeface="DM Sans"/>
              </a:rPr>
              <a:t>, and infographics &amp; images by </a:t>
            </a:r>
            <a:r>
              <a:rPr b="1" lang="en" sz="1200" u="sng">
                <a:solidFill>
                  <a:schemeClr val="dk1"/>
                </a:solidFill>
                <a:latin typeface="DM Sans"/>
                <a:ea typeface="DM Sans"/>
                <a:cs typeface="DM Sans"/>
                <a:sym typeface="DM Sans"/>
                <a:hlinkClick r:id="rId4">
                  <a:extLst>
                    <a:ext uri="{A12FA001-AC4F-418D-AE19-62706E023703}">
                      <ahyp:hlinkClr val="tx"/>
                    </a:ext>
                  </a:extLst>
                </a:hlinkClick>
              </a:rPr>
              <a:t>Freepik</a:t>
            </a:r>
            <a:r>
              <a:rPr lang="en" sz="1200" u="sng">
                <a:solidFill>
                  <a:schemeClr val="dk1"/>
                </a:solidFill>
                <a:latin typeface="DM Sans"/>
                <a:ea typeface="DM Sans"/>
                <a:cs typeface="DM Sans"/>
                <a:sym typeface="DM Sans"/>
              </a:rPr>
              <a:t> </a:t>
            </a:r>
            <a:endParaRPr b="1" sz="1200" u="sng">
              <a:solidFill>
                <a:schemeClr val="dk1"/>
              </a:solidFill>
              <a:latin typeface="DM Sans"/>
              <a:ea typeface="DM Sans"/>
              <a:cs typeface="DM Sans"/>
              <a:sym typeface="DM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13" name="Shape 313"/>
        <p:cNvGrpSpPr/>
        <p:nvPr/>
      </p:nvGrpSpPr>
      <p:grpSpPr>
        <a:xfrm>
          <a:off x="0" y="0"/>
          <a:ext cx="0" cy="0"/>
          <a:chOff x="0" y="0"/>
          <a:chExt cx="0" cy="0"/>
        </a:xfrm>
      </p:grpSpPr>
      <p:grpSp>
        <p:nvGrpSpPr>
          <p:cNvPr id="314" name="Google Shape;314;p31"/>
          <p:cNvGrpSpPr/>
          <p:nvPr/>
        </p:nvGrpSpPr>
        <p:grpSpPr>
          <a:xfrm>
            <a:off x="-247298" y="-446215"/>
            <a:ext cx="9638610" cy="6030088"/>
            <a:chOff x="-247298" y="-446215"/>
            <a:chExt cx="9638610" cy="6030088"/>
          </a:xfrm>
        </p:grpSpPr>
        <p:sp>
          <p:nvSpPr>
            <p:cNvPr id="315" name="Google Shape;315;p31"/>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1"/>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1"/>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1"/>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1"/>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1"/>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1"/>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1"/>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23" name="Shape 323"/>
        <p:cNvGrpSpPr/>
        <p:nvPr/>
      </p:nvGrpSpPr>
      <p:grpSpPr>
        <a:xfrm>
          <a:off x="0" y="0"/>
          <a:ext cx="0" cy="0"/>
          <a:chOff x="0" y="0"/>
          <a:chExt cx="0" cy="0"/>
        </a:xfrm>
      </p:grpSpPr>
      <p:grpSp>
        <p:nvGrpSpPr>
          <p:cNvPr id="324" name="Google Shape;324;p32"/>
          <p:cNvGrpSpPr/>
          <p:nvPr/>
        </p:nvGrpSpPr>
        <p:grpSpPr>
          <a:xfrm>
            <a:off x="-476796" y="2900252"/>
            <a:ext cx="10097585" cy="2865204"/>
            <a:chOff x="-476796" y="2900252"/>
            <a:chExt cx="10097585" cy="2865204"/>
          </a:xfrm>
        </p:grpSpPr>
        <p:grpSp>
          <p:nvGrpSpPr>
            <p:cNvPr id="325" name="Google Shape;325;p32"/>
            <p:cNvGrpSpPr/>
            <p:nvPr/>
          </p:nvGrpSpPr>
          <p:grpSpPr>
            <a:xfrm>
              <a:off x="-476796" y="2900252"/>
              <a:ext cx="10097585" cy="2865204"/>
              <a:chOff x="-476796" y="2900252"/>
              <a:chExt cx="10097585" cy="2865204"/>
            </a:xfrm>
          </p:grpSpPr>
          <p:sp>
            <p:nvSpPr>
              <p:cNvPr id="326" name="Google Shape;326;p32"/>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2"/>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2"/>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2"/>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2"/>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2"/>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2"/>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 name="Google Shape;333;p32"/>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500"/>
              <a:buFont typeface="Outfit"/>
              <a:buNone/>
              <a:defRPr b="1" sz="3500">
                <a:solidFill>
                  <a:schemeClr val="dk1"/>
                </a:solidFill>
                <a:latin typeface="Outfit"/>
                <a:ea typeface="Outfit"/>
                <a:cs typeface="Outfit"/>
                <a:sym typeface="Outfit"/>
              </a:defRPr>
            </a:lvl1pPr>
            <a:lvl2pPr lvl="1"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2pPr>
            <a:lvl3pPr lvl="2"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3pPr>
            <a:lvl4pPr lvl="3"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4pPr>
            <a:lvl5pPr lvl="4"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5pPr>
            <a:lvl6pPr lvl="5"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6pPr>
            <a:lvl7pPr lvl="6"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7pPr>
            <a:lvl8pPr lvl="7"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8pPr>
            <a:lvl9pPr lvl="8"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9.jpg"/><Relationship Id="rId5" Type="http://schemas.openxmlformats.org/officeDocument/2006/relationships/image" Target="../media/image2.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5.png"/><Relationship Id="rId5"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3"/>
          <p:cNvSpPr txBox="1"/>
          <p:nvPr>
            <p:ph type="ctrTitle"/>
          </p:nvPr>
        </p:nvSpPr>
        <p:spPr>
          <a:xfrm>
            <a:off x="713225" y="987225"/>
            <a:ext cx="4733100" cy="238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t>Linking MIDAS Data with Biological Databases: </a:t>
            </a:r>
            <a:br>
              <a:rPr b="1" lang="en" sz="2200"/>
            </a:br>
            <a:r>
              <a:rPr b="0" i="1" lang="en" sz="2000"/>
              <a:t>An R-Based Pipeline for Protein-Metabolite Discovery</a:t>
            </a:r>
            <a:endParaRPr b="0" i="1" sz="2000"/>
          </a:p>
        </p:txBody>
      </p:sp>
      <p:sp>
        <p:nvSpPr>
          <p:cNvPr id="339" name="Google Shape;339;p33"/>
          <p:cNvSpPr txBox="1"/>
          <p:nvPr>
            <p:ph idx="1" type="subTitle"/>
          </p:nvPr>
        </p:nvSpPr>
        <p:spPr>
          <a:xfrm>
            <a:off x="713225" y="3372825"/>
            <a:ext cx="4160700" cy="42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Kainoa Martinez</a:t>
            </a:r>
            <a:endParaRPr/>
          </a:p>
        </p:txBody>
      </p:sp>
      <p:cxnSp>
        <p:nvCxnSpPr>
          <p:cNvPr id="340" name="Google Shape;340;p33"/>
          <p:cNvCxnSpPr/>
          <p:nvPr/>
        </p:nvCxnSpPr>
        <p:spPr>
          <a:xfrm>
            <a:off x="823425" y="987213"/>
            <a:ext cx="373500" cy="0"/>
          </a:xfrm>
          <a:prstGeom prst="straightConnector1">
            <a:avLst/>
          </a:prstGeom>
          <a:noFill/>
          <a:ln cap="flat" cmpd="sng" w="19050">
            <a:solidFill>
              <a:schemeClr val="dk1"/>
            </a:solidFill>
            <a:prstDash val="solid"/>
            <a:round/>
            <a:headEnd len="med" w="med" type="none"/>
            <a:tailEnd len="med" w="med" type="none"/>
          </a:ln>
        </p:spPr>
      </p:cxnSp>
      <p:grpSp>
        <p:nvGrpSpPr>
          <p:cNvPr id="341" name="Google Shape;341;p33"/>
          <p:cNvGrpSpPr/>
          <p:nvPr/>
        </p:nvGrpSpPr>
        <p:grpSpPr>
          <a:xfrm>
            <a:off x="5115337" y="-428624"/>
            <a:ext cx="4275118" cy="6450405"/>
            <a:chOff x="5115337" y="-428624"/>
            <a:chExt cx="4275118" cy="6450405"/>
          </a:xfrm>
        </p:grpSpPr>
        <p:sp>
          <p:nvSpPr>
            <p:cNvPr id="342" name="Google Shape;342;p33"/>
            <p:cNvSpPr/>
            <p:nvPr/>
          </p:nvSpPr>
          <p:spPr>
            <a:xfrm flipH="1" rot="10800000">
              <a:off x="8492525" y="-1927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3"/>
            <p:cNvSpPr/>
            <p:nvPr/>
          </p:nvSpPr>
          <p:spPr>
            <a:xfrm>
              <a:off x="8551745" y="326783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3"/>
            <p:cNvSpPr/>
            <p:nvPr/>
          </p:nvSpPr>
          <p:spPr>
            <a:xfrm>
              <a:off x="6606686"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3"/>
            <p:cNvSpPr/>
            <p:nvPr/>
          </p:nvSpPr>
          <p:spPr>
            <a:xfrm>
              <a:off x="7103477"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3"/>
            <p:cNvSpPr/>
            <p:nvPr/>
          </p:nvSpPr>
          <p:spPr>
            <a:xfrm>
              <a:off x="6684072"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3"/>
            <p:cNvSpPr/>
            <p:nvPr/>
          </p:nvSpPr>
          <p:spPr>
            <a:xfrm>
              <a:off x="6109895" y="11940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3"/>
            <p:cNvSpPr/>
            <p:nvPr/>
          </p:nvSpPr>
          <p:spPr>
            <a:xfrm>
              <a:off x="6109895" y="6977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3"/>
            <p:cNvSpPr/>
            <p:nvPr/>
          </p:nvSpPr>
          <p:spPr>
            <a:xfrm>
              <a:off x="7587339" y="1194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3"/>
            <p:cNvSpPr/>
            <p:nvPr/>
          </p:nvSpPr>
          <p:spPr>
            <a:xfrm>
              <a:off x="5634170" y="-42862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3"/>
            <p:cNvSpPr/>
            <p:nvPr/>
          </p:nvSpPr>
          <p:spPr>
            <a:xfrm>
              <a:off x="7017892"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3"/>
            <p:cNvSpPr/>
            <p:nvPr/>
          </p:nvSpPr>
          <p:spPr>
            <a:xfrm>
              <a:off x="5193798" y="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3"/>
            <p:cNvSpPr/>
            <p:nvPr/>
          </p:nvSpPr>
          <p:spPr>
            <a:xfrm>
              <a:off x="8068891" y="16222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3"/>
            <p:cNvSpPr/>
            <p:nvPr/>
          </p:nvSpPr>
          <p:spPr>
            <a:xfrm flipH="1" rot="10800000">
              <a:off x="5115337" y="3655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3"/>
            <p:cNvSpPr/>
            <p:nvPr/>
          </p:nvSpPr>
          <p:spPr>
            <a:xfrm flipH="1" rot="10800000">
              <a:off x="6606680" y="392470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3"/>
            <p:cNvSpPr/>
            <p:nvPr/>
          </p:nvSpPr>
          <p:spPr>
            <a:xfrm flipH="1" rot="10800000">
              <a:off x="5983934" y="50536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3"/>
            <p:cNvSpPr/>
            <p:nvPr/>
          </p:nvSpPr>
          <p:spPr>
            <a:xfrm flipH="1" rot="10800000">
              <a:off x="7178797" y="35333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3"/>
            <p:cNvSpPr/>
            <p:nvPr/>
          </p:nvSpPr>
          <p:spPr>
            <a:xfrm flipH="1" rot="10800000">
              <a:off x="6606686" y="460940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3"/>
            <p:cNvSpPr/>
            <p:nvPr/>
          </p:nvSpPr>
          <p:spPr>
            <a:xfrm flipH="1" rot="10800000">
              <a:off x="5526543" y="412830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p:nvPr/>
          </p:nvSpPr>
          <p:spPr>
            <a:xfrm>
              <a:off x="8117298" y="285223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3"/>
            <p:cNvSpPr/>
            <p:nvPr/>
          </p:nvSpPr>
          <p:spPr>
            <a:xfrm>
              <a:off x="8172542" y="3036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367" name="Google Shape;367;p34"/>
          <p:cNvSpPr txBox="1"/>
          <p:nvPr>
            <p:ph idx="7" type="title"/>
          </p:nvPr>
        </p:nvSpPr>
        <p:spPr>
          <a:xfrm>
            <a:off x="1505400" y="1369326"/>
            <a:ext cx="734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68" name="Google Shape;368;p34"/>
          <p:cNvSpPr txBox="1"/>
          <p:nvPr>
            <p:ph idx="8" type="title"/>
          </p:nvPr>
        </p:nvSpPr>
        <p:spPr>
          <a:xfrm>
            <a:off x="1505400" y="3126902"/>
            <a:ext cx="734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69" name="Google Shape;369;p34"/>
          <p:cNvSpPr txBox="1"/>
          <p:nvPr>
            <p:ph idx="9" type="title"/>
          </p:nvPr>
        </p:nvSpPr>
        <p:spPr>
          <a:xfrm>
            <a:off x="4204671" y="1369326"/>
            <a:ext cx="734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70" name="Google Shape;370;p34"/>
          <p:cNvSpPr txBox="1"/>
          <p:nvPr>
            <p:ph idx="13" type="title"/>
          </p:nvPr>
        </p:nvSpPr>
        <p:spPr>
          <a:xfrm>
            <a:off x="4204671" y="3126902"/>
            <a:ext cx="734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371" name="Google Shape;371;p34"/>
          <p:cNvSpPr txBox="1"/>
          <p:nvPr>
            <p:ph idx="14" type="title"/>
          </p:nvPr>
        </p:nvSpPr>
        <p:spPr>
          <a:xfrm>
            <a:off x="6903950" y="1369326"/>
            <a:ext cx="734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72" name="Google Shape;372;p34"/>
          <p:cNvSpPr txBox="1"/>
          <p:nvPr>
            <p:ph idx="15" type="title"/>
          </p:nvPr>
        </p:nvSpPr>
        <p:spPr>
          <a:xfrm>
            <a:off x="6903950" y="3126902"/>
            <a:ext cx="734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373" name="Google Shape;373;p34"/>
          <p:cNvSpPr txBox="1"/>
          <p:nvPr>
            <p:ph idx="16" type="subTitle"/>
          </p:nvPr>
        </p:nvSpPr>
        <p:spPr>
          <a:xfrm>
            <a:off x="720000" y="1963512"/>
            <a:ext cx="23055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Introduction</a:t>
            </a:r>
            <a:endParaRPr sz="2000"/>
          </a:p>
        </p:txBody>
      </p:sp>
      <p:sp>
        <p:nvSpPr>
          <p:cNvPr id="374" name="Google Shape;374;p34"/>
          <p:cNvSpPr txBox="1"/>
          <p:nvPr>
            <p:ph idx="17" type="subTitle"/>
          </p:nvPr>
        </p:nvSpPr>
        <p:spPr>
          <a:xfrm>
            <a:off x="3302425" y="1963500"/>
            <a:ext cx="25392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Project Background</a:t>
            </a:r>
            <a:endParaRPr sz="2000"/>
          </a:p>
        </p:txBody>
      </p:sp>
      <p:sp>
        <p:nvSpPr>
          <p:cNvPr id="375" name="Google Shape;375;p34"/>
          <p:cNvSpPr txBox="1"/>
          <p:nvPr>
            <p:ph idx="18" type="subTitle"/>
          </p:nvPr>
        </p:nvSpPr>
        <p:spPr>
          <a:xfrm>
            <a:off x="6118549" y="1963512"/>
            <a:ext cx="23055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Methods</a:t>
            </a:r>
            <a:endParaRPr sz="2000"/>
          </a:p>
        </p:txBody>
      </p:sp>
      <p:sp>
        <p:nvSpPr>
          <p:cNvPr id="376" name="Google Shape;376;p34"/>
          <p:cNvSpPr txBox="1"/>
          <p:nvPr>
            <p:ph idx="19" type="subTitle"/>
          </p:nvPr>
        </p:nvSpPr>
        <p:spPr>
          <a:xfrm>
            <a:off x="720000" y="3721150"/>
            <a:ext cx="23055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Results</a:t>
            </a:r>
            <a:endParaRPr sz="2000"/>
          </a:p>
        </p:txBody>
      </p:sp>
      <p:sp>
        <p:nvSpPr>
          <p:cNvPr id="377" name="Google Shape;377;p34"/>
          <p:cNvSpPr txBox="1"/>
          <p:nvPr>
            <p:ph idx="20" type="subTitle"/>
          </p:nvPr>
        </p:nvSpPr>
        <p:spPr>
          <a:xfrm>
            <a:off x="3419271" y="3721150"/>
            <a:ext cx="23055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Conclusion</a:t>
            </a:r>
            <a:endParaRPr sz="2000"/>
          </a:p>
        </p:txBody>
      </p:sp>
      <p:sp>
        <p:nvSpPr>
          <p:cNvPr id="378" name="Google Shape;378;p34"/>
          <p:cNvSpPr txBox="1"/>
          <p:nvPr>
            <p:ph idx="21" type="subTitle"/>
          </p:nvPr>
        </p:nvSpPr>
        <p:spPr>
          <a:xfrm>
            <a:off x="6118550" y="3721150"/>
            <a:ext cx="25392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Acknowledgments</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5"/>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384" name="Google Shape;384;p35"/>
          <p:cNvSpPr txBox="1"/>
          <p:nvPr>
            <p:ph idx="2" type="title"/>
          </p:nvPr>
        </p:nvSpPr>
        <p:spPr>
          <a:xfrm>
            <a:off x="713225" y="1468350"/>
            <a:ext cx="12642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grpSp>
        <p:nvGrpSpPr>
          <p:cNvPr id="385" name="Google Shape;385;p35"/>
          <p:cNvGrpSpPr/>
          <p:nvPr/>
        </p:nvGrpSpPr>
        <p:grpSpPr>
          <a:xfrm>
            <a:off x="5104880" y="-153372"/>
            <a:ext cx="4218588" cy="6000577"/>
            <a:chOff x="5104880" y="-153372"/>
            <a:chExt cx="4218588" cy="6000577"/>
          </a:xfrm>
        </p:grpSpPr>
        <p:sp>
          <p:nvSpPr>
            <p:cNvPr id="386" name="Google Shape;386;p35"/>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5"/>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5"/>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5"/>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5"/>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5"/>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5"/>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5"/>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5"/>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5"/>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5"/>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5"/>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5"/>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5"/>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5"/>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5"/>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03" name="Google Shape;403;p35"/>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6"/>
          <p:cNvSpPr/>
          <p:nvPr/>
        </p:nvSpPr>
        <p:spPr>
          <a:xfrm>
            <a:off x="644125" y="1435850"/>
            <a:ext cx="2796300" cy="2985300"/>
          </a:xfrm>
          <a:prstGeom prst="rect">
            <a:avLst/>
          </a:prstGeom>
          <a:solidFill>
            <a:schemeClr val="lt2"/>
          </a:solidFill>
          <a:ln cap="flat" cmpd="sng" w="14225">
            <a:solidFill>
              <a:schemeClr val="dk2"/>
            </a:solidFill>
            <a:prstDash val="solid"/>
            <a:round/>
            <a:headEnd len="sm" w="sm" type="none"/>
            <a:tailEnd len="sm" w="sm" type="none"/>
          </a:ln>
        </p:spPr>
        <p:txBody>
          <a:bodyPr anchorCtr="0" anchor="ctr" bIns="136500" lIns="136500" spcFirstLastPara="1" rIns="136500" wrap="square" tIns="136500">
            <a:noAutofit/>
          </a:bodyPr>
          <a:lstStyle/>
          <a:p>
            <a:pPr indent="0" lvl="0" marL="0" rtl="0" algn="ctr">
              <a:spcBef>
                <a:spcPts val="0"/>
              </a:spcBef>
              <a:spcAft>
                <a:spcPts val="0"/>
              </a:spcAft>
              <a:buNone/>
            </a:pPr>
            <a:r>
              <a:t/>
            </a:r>
            <a:endParaRPr sz="2090">
              <a:latin typeface="DM Sans"/>
              <a:ea typeface="DM Sans"/>
              <a:cs typeface="DM Sans"/>
              <a:sym typeface="DM Sans"/>
            </a:endParaRPr>
          </a:p>
        </p:txBody>
      </p:sp>
      <p:sp>
        <p:nvSpPr>
          <p:cNvPr id="409" name="Google Shape;409;p36"/>
          <p:cNvSpPr txBox="1"/>
          <p:nvPr>
            <p:ph type="title"/>
          </p:nvPr>
        </p:nvSpPr>
        <p:spPr>
          <a:xfrm>
            <a:off x="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Introduction</a:t>
            </a:r>
            <a:endParaRPr/>
          </a:p>
        </p:txBody>
      </p:sp>
      <p:pic>
        <p:nvPicPr>
          <p:cNvPr id="410" name="Google Shape;410;p36"/>
          <p:cNvPicPr preferRelativeResize="0"/>
          <p:nvPr/>
        </p:nvPicPr>
        <p:blipFill>
          <a:blip r:embed="rId3">
            <a:alphaModFix/>
          </a:blip>
          <a:stretch>
            <a:fillRect/>
          </a:stretch>
        </p:blipFill>
        <p:spPr>
          <a:xfrm>
            <a:off x="4274363" y="1017725"/>
            <a:ext cx="3672648" cy="1115423"/>
          </a:xfrm>
          <a:prstGeom prst="rect">
            <a:avLst/>
          </a:prstGeom>
          <a:noFill/>
          <a:ln>
            <a:noFill/>
          </a:ln>
        </p:spPr>
      </p:pic>
      <p:pic>
        <p:nvPicPr>
          <p:cNvPr id="411" name="Google Shape;411;p36" title="DSC03400.jpg"/>
          <p:cNvPicPr preferRelativeResize="0"/>
          <p:nvPr/>
        </p:nvPicPr>
        <p:blipFill rotWithShape="1">
          <a:blip r:embed="rId4">
            <a:alphaModFix/>
          </a:blip>
          <a:srcRect b="4088" l="15496" r="25653" t="9838"/>
          <a:stretch/>
        </p:blipFill>
        <p:spPr>
          <a:xfrm>
            <a:off x="823323" y="1585078"/>
            <a:ext cx="2441001" cy="2677716"/>
          </a:xfrm>
          <a:prstGeom prst="rect">
            <a:avLst/>
          </a:prstGeom>
          <a:noFill/>
          <a:ln>
            <a:noFill/>
          </a:ln>
        </p:spPr>
      </p:pic>
      <p:pic>
        <p:nvPicPr>
          <p:cNvPr id="412" name="Google Shape;412;p36"/>
          <p:cNvPicPr preferRelativeResize="0"/>
          <p:nvPr/>
        </p:nvPicPr>
        <p:blipFill>
          <a:blip r:embed="rId5">
            <a:alphaModFix/>
          </a:blip>
          <a:stretch>
            <a:fillRect/>
          </a:stretch>
        </p:blipFill>
        <p:spPr>
          <a:xfrm>
            <a:off x="4496599" y="2414975"/>
            <a:ext cx="2981228" cy="840249"/>
          </a:xfrm>
          <a:prstGeom prst="rect">
            <a:avLst/>
          </a:prstGeom>
          <a:noFill/>
          <a:ln>
            <a:noFill/>
          </a:ln>
        </p:spPr>
      </p:pic>
      <p:pic>
        <p:nvPicPr>
          <p:cNvPr id="413" name="Google Shape;413;p36"/>
          <p:cNvPicPr preferRelativeResize="0"/>
          <p:nvPr/>
        </p:nvPicPr>
        <p:blipFill>
          <a:blip r:embed="rId6">
            <a:alphaModFix/>
          </a:blip>
          <a:stretch>
            <a:fillRect/>
          </a:stretch>
        </p:blipFill>
        <p:spPr>
          <a:xfrm>
            <a:off x="4581900" y="3537050"/>
            <a:ext cx="1687550" cy="1396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7"/>
          <p:cNvSpPr txBox="1"/>
          <p:nvPr>
            <p:ph type="title"/>
          </p:nvPr>
        </p:nvSpPr>
        <p:spPr>
          <a:xfrm>
            <a:off x="713225" y="3021350"/>
            <a:ext cx="43443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Project Background</a:t>
            </a:r>
            <a:endParaRPr/>
          </a:p>
        </p:txBody>
      </p:sp>
      <p:sp>
        <p:nvSpPr>
          <p:cNvPr id="419" name="Google Shape;419;p37"/>
          <p:cNvSpPr txBox="1"/>
          <p:nvPr>
            <p:ph idx="2" type="title"/>
          </p:nvPr>
        </p:nvSpPr>
        <p:spPr>
          <a:xfrm>
            <a:off x="713225" y="1468350"/>
            <a:ext cx="12642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grpSp>
        <p:nvGrpSpPr>
          <p:cNvPr id="420" name="Google Shape;420;p37"/>
          <p:cNvGrpSpPr/>
          <p:nvPr/>
        </p:nvGrpSpPr>
        <p:grpSpPr>
          <a:xfrm>
            <a:off x="5104880" y="-153372"/>
            <a:ext cx="4218588" cy="6000577"/>
            <a:chOff x="5104880" y="-153372"/>
            <a:chExt cx="4218588" cy="6000577"/>
          </a:xfrm>
        </p:grpSpPr>
        <p:sp>
          <p:nvSpPr>
            <p:cNvPr id="421" name="Google Shape;421;p37"/>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7"/>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7"/>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7"/>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7"/>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7"/>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7"/>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7"/>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7"/>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7"/>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7"/>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7"/>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7"/>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7"/>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7"/>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7"/>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7"/>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38" name="Google Shape;438;p37"/>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8"/>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MIDAS? </a:t>
            </a:r>
            <a:endParaRPr/>
          </a:p>
        </p:txBody>
      </p:sp>
      <p:sp>
        <p:nvSpPr>
          <p:cNvPr id="444" name="Google Shape;444;p38"/>
          <p:cNvSpPr txBox="1"/>
          <p:nvPr>
            <p:ph idx="1" type="subTitle"/>
          </p:nvPr>
        </p:nvSpPr>
        <p:spPr>
          <a:xfrm>
            <a:off x="720000" y="1396200"/>
            <a:ext cx="4294800" cy="2911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solidFill>
                  <a:srgbClr val="000000"/>
                </a:solidFill>
                <a:latin typeface="Outfit"/>
                <a:ea typeface="Outfit"/>
                <a:cs typeface="Outfit"/>
                <a:sym typeface="Outfit"/>
              </a:rPr>
              <a:t>MIDAS</a:t>
            </a:r>
            <a:r>
              <a:rPr lang="en">
                <a:solidFill>
                  <a:srgbClr val="000000"/>
                </a:solidFill>
                <a:latin typeface="Outfit"/>
                <a:ea typeface="Outfit"/>
                <a:cs typeface="Outfit"/>
                <a:sym typeface="Outfit"/>
              </a:rPr>
              <a:t> (Mass spectrometry Integrated with equilibrium Dialysis for the discovery of Allostery Systematically)</a:t>
            </a:r>
            <a:endParaRPr>
              <a:solidFill>
                <a:srgbClr val="000000"/>
              </a:solidFill>
              <a:latin typeface="Outfit"/>
              <a:ea typeface="Outfit"/>
              <a:cs typeface="Outfit"/>
              <a:sym typeface="Outfit"/>
            </a:endParaRPr>
          </a:p>
          <a:p>
            <a:pPr indent="-317500" lvl="0" marL="457200" rtl="0" algn="l">
              <a:lnSpc>
                <a:spcPct val="100000"/>
              </a:lnSpc>
              <a:spcBef>
                <a:spcPts val="0"/>
              </a:spcBef>
              <a:spcAft>
                <a:spcPts val="0"/>
              </a:spcAft>
              <a:buClr>
                <a:srgbClr val="000000"/>
              </a:buClr>
              <a:buSzPts val="1400"/>
              <a:buFont typeface="Outfit"/>
              <a:buChar char="●"/>
            </a:pPr>
            <a:r>
              <a:rPr lang="en">
                <a:solidFill>
                  <a:srgbClr val="000000"/>
                </a:solidFill>
                <a:latin typeface="Outfit"/>
                <a:ea typeface="Outfit"/>
                <a:cs typeface="Outfit"/>
                <a:sym typeface="Outfit"/>
              </a:rPr>
              <a:t>Using mass spectrometry and equilibrium dialysis helps to identify interactions between metabolites and proteins</a:t>
            </a:r>
            <a:endParaRPr>
              <a:solidFill>
                <a:srgbClr val="000000"/>
              </a:solidFill>
              <a:latin typeface="Outfit"/>
              <a:ea typeface="Outfit"/>
              <a:cs typeface="Outfit"/>
              <a:sym typeface="Outfit"/>
            </a:endParaRPr>
          </a:p>
          <a:p>
            <a:pPr indent="-317500" lvl="1" marL="914400" rtl="0" algn="ctr">
              <a:lnSpc>
                <a:spcPct val="100000"/>
              </a:lnSpc>
              <a:spcBef>
                <a:spcPts val="0"/>
              </a:spcBef>
              <a:spcAft>
                <a:spcPts val="0"/>
              </a:spcAft>
              <a:buClr>
                <a:srgbClr val="000000"/>
              </a:buClr>
              <a:buSzPts val="1400"/>
              <a:buFont typeface="Outfit"/>
              <a:buChar char="○"/>
            </a:pPr>
            <a:r>
              <a:rPr lang="en">
                <a:solidFill>
                  <a:srgbClr val="000000"/>
                </a:solidFill>
                <a:latin typeface="Outfit"/>
                <a:ea typeface="Outfit"/>
                <a:cs typeface="Outfit"/>
                <a:sym typeface="Outfit"/>
              </a:rPr>
              <a:t>Enables systematic identification of protein-metabolite binding events = providing richer interaction profiles</a:t>
            </a:r>
            <a:endParaRPr>
              <a:latin typeface="Outfit"/>
              <a:ea typeface="Outfit"/>
              <a:cs typeface="Outfit"/>
              <a:sym typeface="Outfit"/>
            </a:endParaRPr>
          </a:p>
          <a:p>
            <a:pPr indent="0" lvl="0" marL="0" rtl="0" algn="l">
              <a:spcBef>
                <a:spcPts val="0"/>
              </a:spcBef>
              <a:spcAft>
                <a:spcPts val="0"/>
              </a:spcAft>
              <a:buNone/>
            </a:pPr>
            <a:r>
              <a:t/>
            </a:r>
            <a:endParaRPr/>
          </a:p>
          <a:p>
            <a:pPr indent="0" lvl="0" marL="0" rtl="0" algn="l">
              <a:spcBef>
                <a:spcPts val="1000"/>
              </a:spcBef>
              <a:spcAft>
                <a:spcPts val="0"/>
              </a:spcAft>
              <a:buNone/>
            </a:pPr>
            <a:r>
              <a:t/>
            </a:r>
            <a:endParaRPr/>
          </a:p>
        </p:txBody>
      </p:sp>
      <p:grpSp>
        <p:nvGrpSpPr>
          <p:cNvPr id="445" name="Google Shape;445;p38"/>
          <p:cNvGrpSpPr/>
          <p:nvPr/>
        </p:nvGrpSpPr>
        <p:grpSpPr>
          <a:xfrm>
            <a:off x="5430930" y="-445784"/>
            <a:ext cx="4086563" cy="6064817"/>
            <a:chOff x="5430930" y="-445784"/>
            <a:chExt cx="4086563" cy="6064817"/>
          </a:xfrm>
        </p:grpSpPr>
        <p:sp>
          <p:nvSpPr>
            <p:cNvPr id="446" name="Google Shape;446;p38"/>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8"/>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8"/>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8"/>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8"/>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8"/>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8"/>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8"/>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8"/>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8"/>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8"/>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8"/>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8"/>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8"/>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8"/>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8"/>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8"/>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4" name="Google Shape;464;p38"/>
          <p:cNvSpPr/>
          <p:nvPr/>
        </p:nvSpPr>
        <p:spPr>
          <a:xfrm>
            <a:off x="5430925" y="0"/>
            <a:ext cx="38241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465" name="Google Shape;465;p38" title="Screenshot 2025-07-28 at 10.05.09 PM.png"/>
          <p:cNvPicPr preferRelativeResize="0"/>
          <p:nvPr/>
        </p:nvPicPr>
        <p:blipFill rotWithShape="1">
          <a:blip r:embed="rId3">
            <a:alphaModFix/>
          </a:blip>
          <a:srcRect b="0" l="6068" r="0" t="0"/>
          <a:stretch/>
        </p:blipFill>
        <p:spPr>
          <a:xfrm>
            <a:off x="5724188" y="613700"/>
            <a:ext cx="3237575" cy="3916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9"/>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HMDB and UniProt?</a:t>
            </a:r>
            <a:endParaRPr/>
          </a:p>
        </p:txBody>
      </p:sp>
      <p:sp>
        <p:nvSpPr>
          <p:cNvPr id="471" name="Google Shape;471;p39"/>
          <p:cNvSpPr txBox="1"/>
          <p:nvPr>
            <p:ph idx="1" type="subTitle"/>
          </p:nvPr>
        </p:nvSpPr>
        <p:spPr>
          <a:xfrm>
            <a:off x="720000" y="1836900"/>
            <a:ext cx="4294800" cy="213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HMDB</a:t>
            </a:r>
            <a:r>
              <a:rPr lang="en"/>
              <a:t> - Human Metabolome Database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UniProt </a:t>
            </a:r>
            <a:r>
              <a:rPr lang="en"/>
              <a:t>-  Universal Protein Resource</a:t>
            </a:r>
            <a:endParaRPr/>
          </a:p>
          <a:p>
            <a:pPr indent="0" lvl="0" marL="0" rtl="0" algn="l">
              <a:spcBef>
                <a:spcPts val="0"/>
              </a:spcBef>
              <a:spcAft>
                <a:spcPts val="0"/>
              </a:spcAft>
              <a:buNone/>
            </a:pPr>
            <a:r>
              <a:t/>
            </a:r>
            <a:endParaRPr/>
          </a:p>
        </p:txBody>
      </p:sp>
      <p:pic>
        <p:nvPicPr>
          <p:cNvPr id="472" name="Google Shape;472;p39"/>
          <p:cNvPicPr preferRelativeResize="0"/>
          <p:nvPr/>
        </p:nvPicPr>
        <p:blipFill>
          <a:blip r:embed="rId3">
            <a:alphaModFix/>
          </a:blip>
          <a:stretch>
            <a:fillRect/>
          </a:stretch>
        </p:blipFill>
        <p:spPr>
          <a:xfrm>
            <a:off x="720000" y="3117775"/>
            <a:ext cx="2952750" cy="1552575"/>
          </a:xfrm>
          <a:prstGeom prst="rect">
            <a:avLst/>
          </a:prstGeom>
          <a:noFill/>
          <a:ln>
            <a:noFill/>
          </a:ln>
        </p:spPr>
      </p:pic>
      <p:pic>
        <p:nvPicPr>
          <p:cNvPr id="473" name="Google Shape;473;p39"/>
          <p:cNvPicPr preferRelativeResize="0"/>
          <p:nvPr/>
        </p:nvPicPr>
        <p:blipFill>
          <a:blip r:embed="rId4">
            <a:alphaModFix/>
          </a:blip>
          <a:stretch>
            <a:fillRect/>
          </a:stretch>
        </p:blipFill>
        <p:spPr>
          <a:xfrm>
            <a:off x="5153000" y="3117775"/>
            <a:ext cx="2952750" cy="15525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0"/>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Methods</a:t>
            </a:r>
            <a:endParaRPr/>
          </a:p>
        </p:txBody>
      </p:sp>
      <p:sp>
        <p:nvSpPr>
          <p:cNvPr id="479" name="Google Shape;479;p40"/>
          <p:cNvSpPr txBox="1"/>
          <p:nvPr>
            <p:ph idx="2" type="title"/>
          </p:nvPr>
        </p:nvSpPr>
        <p:spPr>
          <a:xfrm>
            <a:off x="713225" y="1468350"/>
            <a:ext cx="12642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grpSp>
        <p:nvGrpSpPr>
          <p:cNvPr id="480" name="Google Shape;480;p40"/>
          <p:cNvGrpSpPr/>
          <p:nvPr/>
        </p:nvGrpSpPr>
        <p:grpSpPr>
          <a:xfrm>
            <a:off x="5104880" y="-153372"/>
            <a:ext cx="4218588" cy="6000577"/>
            <a:chOff x="5104880" y="-153372"/>
            <a:chExt cx="4218588" cy="6000577"/>
          </a:xfrm>
        </p:grpSpPr>
        <p:sp>
          <p:nvSpPr>
            <p:cNvPr id="481" name="Google Shape;481;p40"/>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40"/>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0"/>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0"/>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0"/>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0"/>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0"/>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40"/>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0"/>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0"/>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40"/>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40"/>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0"/>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40"/>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0"/>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0"/>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0"/>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98" name="Google Shape;498;p40"/>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pic>
        <p:nvPicPr>
          <p:cNvPr id="503" name="Google Shape;503;p41" title="Data Input.png"/>
          <p:cNvPicPr preferRelativeResize="0"/>
          <p:nvPr/>
        </p:nvPicPr>
        <p:blipFill rotWithShape="1">
          <a:blip r:embed="rId3">
            <a:alphaModFix/>
          </a:blip>
          <a:srcRect b="5434" l="3295" r="3089" t="23905"/>
          <a:stretch/>
        </p:blipFill>
        <p:spPr>
          <a:xfrm>
            <a:off x="444125" y="14006938"/>
            <a:ext cx="14370902" cy="8729975"/>
          </a:xfrm>
          <a:prstGeom prst="rect">
            <a:avLst/>
          </a:prstGeom>
          <a:noFill/>
          <a:ln>
            <a:noFill/>
          </a:ln>
        </p:spPr>
      </p:pic>
      <p:pic>
        <p:nvPicPr>
          <p:cNvPr id="504" name="Google Shape;504;p41" title="Data Input.png"/>
          <p:cNvPicPr preferRelativeResize="0"/>
          <p:nvPr/>
        </p:nvPicPr>
        <p:blipFill rotWithShape="1">
          <a:blip r:embed="rId3">
            <a:alphaModFix/>
          </a:blip>
          <a:srcRect b="6171" l="3045" r="2979" t="23302"/>
          <a:stretch/>
        </p:blipFill>
        <p:spPr>
          <a:xfrm>
            <a:off x="0" y="0"/>
            <a:ext cx="9144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2"/>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510" name="Google Shape;510;p42"/>
          <p:cNvSpPr txBox="1"/>
          <p:nvPr>
            <p:ph idx="2" type="title"/>
          </p:nvPr>
        </p:nvSpPr>
        <p:spPr>
          <a:xfrm>
            <a:off x="713225" y="1468350"/>
            <a:ext cx="12642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04</a:t>
            </a:r>
            <a:endParaRPr/>
          </a:p>
        </p:txBody>
      </p:sp>
      <p:grpSp>
        <p:nvGrpSpPr>
          <p:cNvPr id="511" name="Google Shape;511;p42"/>
          <p:cNvGrpSpPr/>
          <p:nvPr/>
        </p:nvGrpSpPr>
        <p:grpSpPr>
          <a:xfrm>
            <a:off x="5104880" y="-153372"/>
            <a:ext cx="4218588" cy="6000577"/>
            <a:chOff x="5104880" y="-153372"/>
            <a:chExt cx="4218588" cy="6000577"/>
          </a:xfrm>
        </p:grpSpPr>
        <p:sp>
          <p:nvSpPr>
            <p:cNvPr id="512" name="Google Shape;512;p42"/>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2"/>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42"/>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2"/>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2"/>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2"/>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2"/>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2"/>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2"/>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2"/>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2"/>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2"/>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2"/>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2"/>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2"/>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2"/>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2"/>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29" name="Google Shape;529;p42"/>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pic>
        <p:nvPicPr>
          <p:cNvPr id="534" name="Google Shape;534;p43" title="Barplot of known vs novel PMI.png"/>
          <p:cNvPicPr preferRelativeResize="0"/>
          <p:nvPr/>
        </p:nvPicPr>
        <p:blipFill>
          <a:blip r:embed="rId3">
            <a:alphaModFix/>
          </a:blip>
          <a:stretch>
            <a:fillRect/>
          </a:stretch>
        </p:blipFill>
        <p:spPr>
          <a:xfrm>
            <a:off x="15532575" y="6677650"/>
            <a:ext cx="10979149" cy="6477000"/>
          </a:xfrm>
          <a:prstGeom prst="rect">
            <a:avLst/>
          </a:prstGeom>
          <a:noFill/>
          <a:ln>
            <a:noFill/>
          </a:ln>
        </p:spPr>
      </p:pic>
      <p:pic>
        <p:nvPicPr>
          <p:cNvPr id="535" name="Google Shape;535;p43" title="Screenshot 2025-07-28 at 7.56.44 PM.png"/>
          <p:cNvPicPr preferRelativeResize="0"/>
          <p:nvPr/>
        </p:nvPicPr>
        <p:blipFill>
          <a:blip r:embed="rId4">
            <a:alphaModFix/>
          </a:blip>
          <a:stretch>
            <a:fillRect/>
          </a:stretch>
        </p:blipFill>
        <p:spPr>
          <a:xfrm>
            <a:off x="0" y="0"/>
            <a:ext cx="9144001"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44"/>
          <p:cNvSpPr txBox="1"/>
          <p:nvPr>
            <p:ph idx="1" type="subTitle"/>
          </p:nvPr>
        </p:nvSpPr>
        <p:spPr>
          <a:xfrm>
            <a:off x="881225" y="2768751"/>
            <a:ext cx="2288100" cy="89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44"/>
          <p:cNvSpPr txBox="1"/>
          <p:nvPr>
            <p:ph idx="2" type="subTitle"/>
          </p:nvPr>
        </p:nvSpPr>
        <p:spPr>
          <a:xfrm>
            <a:off x="3427950" y="2768751"/>
            <a:ext cx="2288100" cy="89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44"/>
          <p:cNvSpPr txBox="1"/>
          <p:nvPr>
            <p:ph idx="3" type="subTitle"/>
          </p:nvPr>
        </p:nvSpPr>
        <p:spPr>
          <a:xfrm>
            <a:off x="5974700" y="2768751"/>
            <a:ext cx="2288100" cy="89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44" name="Google Shape;544;p44"/>
          <p:cNvSpPr txBox="1"/>
          <p:nvPr>
            <p:ph idx="4" type="subTitle"/>
          </p:nvPr>
        </p:nvSpPr>
        <p:spPr>
          <a:xfrm>
            <a:off x="881225" y="2250275"/>
            <a:ext cx="2288100" cy="66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545" name="Google Shape;545;p44"/>
          <p:cNvSpPr txBox="1"/>
          <p:nvPr>
            <p:ph idx="5" type="subTitle"/>
          </p:nvPr>
        </p:nvSpPr>
        <p:spPr>
          <a:xfrm>
            <a:off x="3427954" y="2250275"/>
            <a:ext cx="2288100" cy="66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44"/>
          <p:cNvSpPr txBox="1"/>
          <p:nvPr>
            <p:ph idx="6" type="subTitle"/>
          </p:nvPr>
        </p:nvSpPr>
        <p:spPr>
          <a:xfrm>
            <a:off x="5974700" y="2250275"/>
            <a:ext cx="2288100" cy="66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547" name="Google Shape;547;p44" title="Screenshot 2025-07-28 at 7.58.44 PM.pn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pic>
        <p:nvPicPr>
          <p:cNvPr id="552" name="Google Shape;552;p45" title="Screenshot 2025-07-28 at 7.55.54 PM.png"/>
          <p:cNvPicPr preferRelativeResize="0"/>
          <p:nvPr/>
        </p:nvPicPr>
        <p:blipFill>
          <a:blip r:embed="rId3">
            <a:alphaModFix/>
          </a:blip>
          <a:stretch>
            <a:fillRect/>
          </a:stretch>
        </p:blipFill>
        <p:spPr>
          <a:xfrm>
            <a:off x="0" y="0"/>
            <a:ext cx="9143998" cy="51746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58" name="Google Shape;558;p46"/>
          <p:cNvSpPr txBox="1"/>
          <p:nvPr>
            <p:ph idx="1" type="subTitle"/>
          </p:nvPr>
        </p:nvSpPr>
        <p:spPr>
          <a:xfrm>
            <a:off x="881225" y="2768751"/>
            <a:ext cx="2288100" cy="89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46"/>
          <p:cNvSpPr txBox="1"/>
          <p:nvPr>
            <p:ph idx="2" type="subTitle"/>
          </p:nvPr>
        </p:nvSpPr>
        <p:spPr>
          <a:xfrm>
            <a:off x="3427950" y="2768751"/>
            <a:ext cx="2288100" cy="89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46"/>
          <p:cNvSpPr txBox="1"/>
          <p:nvPr>
            <p:ph idx="3" type="subTitle"/>
          </p:nvPr>
        </p:nvSpPr>
        <p:spPr>
          <a:xfrm>
            <a:off x="5974700" y="2768751"/>
            <a:ext cx="2288100" cy="89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46"/>
          <p:cNvSpPr txBox="1"/>
          <p:nvPr>
            <p:ph idx="4" type="subTitle"/>
          </p:nvPr>
        </p:nvSpPr>
        <p:spPr>
          <a:xfrm>
            <a:off x="881225" y="2250275"/>
            <a:ext cx="2288100" cy="66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p46"/>
          <p:cNvSpPr txBox="1"/>
          <p:nvPr>
            <p:ph idx="5" type="subTitle"/>
          </p:nvPr>
        </p:nvSpPr>
        <p:spPr>
          <a:xfrm>
            <a:off x="3427954" y="2250275"/>
            <a:ext cx="2288100" cy="66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563" name="Google Shape;563;p46"/>
          <p:cNvSpPr txBox="1"/>
          <p:nvPr>
            <p:ph idx="6" type="subTitle"/>
          </p:nvPr>
        </p:nvSpPr>
        <p:spPr>
          <a:xfrm>
            <a:off x="5974700" y="2250275"/>
            <a:ext cx="2288100" cy="66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564" name="Google Shape;564;p46" title="Screenshot 2025-07-29 at 3.27.11 AM.png"/>
          <p:cNvPicPr preferRelativeResize="0"/>
          <p:nvPr/>
        </p:nvPicPr>
        <p:blipFill>
          <a:blip r:embed="rId3">
            <a:alphaModFix/>
          </a:blip>
          <a:stretch>
            <a:fillRect/>
          </a:stretch>
        </p:blipFill>
        <p:spPr>
          <a:xfrm>
            <a:off x="0" y="8525"/>
            <a:ext cx="9144000"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70" name="Google Shape;570;p47"/>
          <p:cNvSpPr txBox="1"/>
          <p:nvPr>
            <p:ph idx="1" type="subTitle"/>
          </p:nvPr>
        </p:nvSpPr>
        <p:spPr>
          <a:xfrm>
            <a:off x="881225" y="2768751"/>
            <a:ext cx="2288100" cy="89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71" name="Google Shape;571;p47"/>
          <p:cNvSpPr txBox="1"/>
          <p:nvPr>
            <p:ph idx="2" type="subTitle"/>
          </p:nvPr>
        </p:nvSpPr>
        <p:spPr>
          <a:xfrm>
            <a:off x="3427950" y="2768751"/>
            <a:ext cx="2288100" cy="89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72" name="Google Shape;572;p47"/>
          <p:cNvSpPr txBox="1"/>
          <p:nvPr>
            <p:ph idx="3" type="subTitle"/>
          </p:nvPr>
        </p:nvSpPr>
        <p:spPr>
          <a:xfrm>
            <a:off x="5974700" y="2768751"/>
            <a:ext cx="2288100" cy="89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73" name="Google Shape;573;p47"/>
          <p:cNvSpPr txBox="1"/>
          <p:nvPr>
            <p:ph idx="4" type="subTitle"/>
          </p:nvPr>
        </p:nvSpPr>
        <p:spPr>
          <a:xfrm>
            <a:off x="881225" y="2250275"/>
            <a:ext cx="2288100" cy="66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47"/>
          <p:cNvSpPr txBox="1"/>
          <p:nvPr>
            <p:ph idx="5" type="subTitle"/>
          </p:nvPr>
        </p:nvSpPr>
        <p:spPr>
          <a:xfrm>
            <a:off x="3427954" y="2250275"/>
            <a:ext cx="2288100" cy="66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47"/>
          <p:cNvSpPr txBox="1"/>
          <p:nvPr>
            <p:ph idx="6" type="subTitle"/>
          </p:nvPr>
        </p:nvSpPr>
        <p:spPr>
          <a:xfrm>
            <a:off x="5974700" y="2250275"/>
            <a:ext cx="2288100" cy="66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576" name="Google Shape;576;p47" title="Screenshot 2025-07-28 at 7.59.23 PM.png"/>
          <p:cNvPicPr preferRelativeResize="0"/>
          <p:nvPr/>
        </p:nvPicPr>
        <p:blipFill rotWithShape="1">
          <a:blip r:embed="rId3">
            <a:alphaModFix/>
          </a:blip>
          <a:srcRect b="0" l="1865" r="0" t="0"/>
          <a:stretch/>
        </p:blipFill>
        <p:spPr>
          <a:xfrm>
            <a:off x="0" y="0"/>
            <a:ext cx="9144000"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8"/>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582" name="Google Shape;582;p48"/>
          <p:cNvSpPr txBox="1"/>
          <p:nvPr>
            <p:ph idx="2" type="title"/>
          </p:nvPr>
        </p:nvSpPr>
        <p:spPr>
          <a:xfrm>
            <a:off x="713225" y="1468350"/>
            <a:ext cx="12642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05</a:t>
            </a:r>
            <a:endParaRPr/>
          </a:p>
        </p:txBody>
      </p:sp>
      <p:grpSp>
        <p:nvGrpSpPr>
          <p:cNvPr id="583" name="Google Shape;583;p48"/>
          <p:cNvGrpSpPr/>
          <p:nvPr/>
        </p:nvGrpSpPr>
        <p:grpSpPr>
          <a:xfrm>
            <a:off x="5104880" y="-153372"/>
            <a:ext cx="4218588" cy="6000577"/>
            <a:chOff x="5104880" y="-153372"/>
            <a:chExt cx="4218588" cy="6000577"/>
          </a:xfrm>
        </p:grpSpPr>
        <p:sp>
          <p:nvSpPr>
            <p:cNvPr id="584" name="Google Shape;584;p48"/>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8"/>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8"/>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8"/>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8"/>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8"/>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8"/>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8"/>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8"/>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8"/>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8"/>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8"/>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8"/>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8"/>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8"/>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8"/>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8"/>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01" name="Google Shape;601;p48"/>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607" name="Google Shape;607;p49"/>
          <p:cNvSpPr txBox="1"/>
          <p:nvPr/>
        </p:nvSpPr>
        <p:spPr>
          <a:xfrm>
            <a:off x="1125825" y="1271250"/>
            <a:ext cx="7298100" cy="2878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Font typeface="Outfit"/>
              <a:buChar char="❖"/>
            </a:pPr>
            <a:r>
              <a:rPr lang="en">
                <a:latin typeface="Outfit"/>
                <a:ea typeface="Outfit"/>
                <a:cs typeface="Outfit"/>
                <a:sym typeface="Outfit"/>
              </a:rPr>
              <a:t>Integrating MIDAS data with HMDB and UniProt annotations reveals a large number of novel PMIs</a:t>
            </a:r>
            <a:endParaRPr>
              <a:latin typeface="Outfit"/>
              <a:ea typeface="Outfit"/>
              <a:cs typeface="Outfit"/>
              <a:sym typeface="Outfit"/>
            </a:endParaRPr>
          </a:p>
          <a:p>
            <a:pPr indent="0" lvl="0" marL="0" rtl="0" algn="l">
              <a:lnSpc>
                <a:spcPct val="115000"/>
              </a:lnSpc>
              <a:spcBef>
                <a:spcPts val="0"/>
              </a:spcBef>
              <a:spcAft>
                <a:spcPts val="0"/>
              </a:spcAft>
              <a:buNone/>
            </a:pPr>
            <a:r>
              <a:t/>
            </a:r>
            <a:endParaRPr>
              <a:latin typeface="Outfit"/>
              <a:ea typeface="Outfit"/>
              <a:cs typeface="Outfit"/>
              <a:sym typeface="Outfit"/>
            </a:endParaRPr>
          </a:p>
          <a:p>
            <a:pPr indent="-317500" lvl="0" marL="457200" rtl="0" algn="l">
              <a:lnSpc>
                <a:spcPct val="115000"/>
              </a:lnSpc>
              <a:spcBef>
                <a:spcPts val="0"/>
              </a:spcBef>
              <a:spcAft>
                <a:spcPts val="0"/>
              </a:spcAft>
              <a:buSzPts val="1400"/>
              <a:buFont typeface="Outfit"/>
              <a:buChar char="❖"/>
            </a:pPr>
            <a:r>
              <a:rPr lang="en">
                <a:latin typeface="Outfit"/>
                <a:ea typeface="Outfit"/>
                <a:cs typeface="Outfit"/>
                <a:sym typeface="Outfit"/>
              </a:rPr>
              <a:t>Most significant PMIs are previously unreported, highlighting the value of this approach in expanding functional annotations</a:t>
            </a:r>
            <a:endParaRPr>
              <a:latin typeface="Outfit"/>
              <a:ea typeface="Outfit"/>
              <a:cs typeface="Outfit"/>
              <a:sym typeface="Outfit"/>
            </a:endParaRPr>
          </a:p>
          <a:p>
            <a:pPr indent="0" lvl="0" marL="0" rtl="0" algn="l">
              <a:lnSpc>
                <a:spcPct val="115000"/>
              </a:lnSpc>
              <a:spcBef>
                <a:spcPts val="0"/>
              </a:spcBef>
              <a:spcAft>
                <a:spcPts val="0"/>
              </a:spcAft>
              <a:buNone/>
            </a:pPr>
            <a:r>
              <a:t/>
            </a:r>
            <a:endParaRPr>
              <a:latin typeface="Outfit"/>
              <a:ea typeface="Outfit"/>
              <a:cs typeface="Outfit"/>
              <a:sym typeface="Outfit"/>
            </a:endParaRPr>
          </a:p>
          <a:p>
            <a:pPr indent="-317500" lvl="0" marL="457200" rtl="0" algn="l">
              <a:lnSpc>
                <a:spcPct val="115000"/>
              </a:lnSpc>
              <a:spcBef>
                <a:spcPts val="0"/>
              </a:spcBef>
              <a:spcAft>
                <a:spcPts val="0"/>
              </a:spcAft>
              <a:buSzPts val="1400"/>
              <a:buFont typeface="Outfit"/>
              <a:buChar char="❖"/>
            </a:pPr>
            <a:r>
              <a:rPr lang="en">
                <a:latin typeface="Outfit"/>
                <a:ea typeface="Outfit"/>
                <a:cs typeface="Outfit"/>
                <a:sym typeface="Outfit"/>
              </a:rPr>
              <a:t>PCA shows distinct clustering of interaction profiles, suggesting biological relevance</a:t>
            </a:r>
            <a:endParaRPr>
              <a:latin typeface="Outfit"/>
              <a:ea typeface="Outfit"/>
              <a:cs typeface="Outfit"/>
              <a:sym typeface="Outfit"/>
            </a:endParaRPr>
          </a:p>
          <a:p>
            <a:pPr indent="0" lvl="0" marL="457200" rtl="0" algn="l">
              <a:lnSpc>
                <a:spcPct val="115000"/>
              </a:lnSpc>
              <a:spcBef>
                <a:spcPts val="0"/>
              </a:spcBef>
              <a:spcAft>
                <a:spcPts val="0"/>
              </a:spcAft>
              <a:buNone/>
            </a:pPr>
            <a:r>
              <a:t/>
            </a:r>
            <a:endParaRPr>
              <a:latin typeface="Outfit"/>
              <a:ea typeface="Outfit"/>
              <a:cs typeface="Outfit"/>
              <a:sym typeface="Outfit"/>
            </a:endParaRPr>
          </a:p>
          <a:p>
            <a:pPr indent="-317500" lvl="0" marL="457200" rtl="0" algn="l">
              <a:lnSpc>
                <a:spcPct val="115000"/>
              </a:lnSpc>
              <a:spcBef>
                <a:spcPts val="0"/>
              </a:spcBef>
              <a:spcAft>
                <a:spcPts val="0"/>
              </a:spcAft>
              <a:buSzPts val="1400"/>
              <a:buFont typeface="Outfit"/>
              <a:buChar char="❖"/>
            </a:pPr>
            <a:r>
              <a:rPr lang="en">
                <a:latin typeface="Outfit"/>
                <a:ea typeface="Outfit"/>
                <a:cs typeface="Outfit"/>
                <a:sym typeface="Outfit"/>
              </a:rPr>
              <a:t>The projects future direction aims to incorporate databases like BRENDA and STITCH to enhance the depth of protein-metabolite annotations and allow the framework to handle larger and more diverse datasets</a:t>
            </a:r>
            <a:endParaRPr>
              <a:latin typeface="Outfit"/>
              <a:ea typeface="Outfit"/>
              <a:cs typeface="Outfit"/>
              <a:sym typeface="Outfi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0"/>
          <p:cNvSpPr txBox="1"/>
          <p:nvPr>
            <p:ph type="title"/>
          </p:nvPr>
        </p:nvSpPr>
        <p:spPr>
          <a:xfrm>
            <a:off x="713225" y="2388963"/>
            <a:ext cx="63822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Acknowledgements</a:t>
            </a:r>
            <a:endParaRPr/>
          </a:p>
        </p:txBody>
      </p:sp>
      <p:sp>
        <p:nvSpPr>
          <p:cNvPr id="613" name="Google Shape;613;p50"/>
          <p:cNvSpPr txBox="1"/>
          <p:nvPr>
            <p:ph idx="2" type="title"/>
          </p:nvPr>
        </p:nvSpPr>
        <p:spPr>
          <a:xfrm>
            <a:off x="713225" y="1468350"/>
            <a:ext cx="12642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06</a:t>
            </a:r>
            <a:endParaRPr/>
          </a:p>
        </p:txBody>
      </p:sp>
      <p:grpSp>
        <p:nvGrpSpPr>
          <p:cNvPr id="614" name="Google Shape;614;p50"/>
          <p:cNvGrpSpPr/>
          <p:nvPr/>
        </p:nvGrpSpPr>
        <p:grpSpPr>
          <a:xfrm>
            <a:off x="5104880" y="-153372"/>
            <a:ext cx="4218588" cy="6000577"/>
            <a:chOff x="5104880" y="-153372"/>
            <a:chExt cx="4218588" cy="6000577"/>
          </a:xfrm>
        </p:grpSpPr>
        <p:sp>
          <p:nvSpPr>
            <p:cNvPr id="615" name="Google Shape;615;p50"/>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50"/>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50"/>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50"/>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50"/>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50"/>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50"/>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50"/>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50"/>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50"/>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50"/>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50"/>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50"/>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50"/>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50"/>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50"/>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50"/>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32" name="Google Shape;632;p50"/>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51"/>
          <p:cNvSpPr/>
          <p:nvPr/>
        </p:nvSpPr>
        <p:spPr>
          <a:xfrm>
            <a:off x="3468800" y="2189325"/>
            <a:ext cx="2203500" cy="251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38" name="Google Shape;638;p51"/>
          <p:cNvSpPr txBox="1"/>
          <p:nvPr/>
        </p:nvSpPr>
        <p:spPr>
          <a:xfrm>
            <a:off x="440725" y="2646400"/>
            <a:ext cx="2345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639" name="Google Shape;639;p51"/>
          <p:cNvSpPr txBox="1"/>
          <p:nvPr/>
        </p:nvSpPr>
        <p:spPr>
          <a:xfrm>
            <a:off x="5885600" y="2246200"/>
            <a:ext cx="3411900" cy="2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640" name="Google Shape;640;p51"/>
          <p:cNvSpPr txBox="1"/>
          <p:nvPr/>
        </p:nvSpPr>
        <p:spPr>
          <a:xfrm>
            <a:off x="2866050" y="4275150"/>
            <a:ext cx="3411900" cy="2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DM Sans"/>
                <a:ea typeface="DM Sans"/>
                <a:cs typeface="DM Sans"/>
                <a:sym typeface="DM Sans"/>
              </a:rPr>
              <a:t>McKenna Wilson</a:t>
            </a:r>
            <a:endParaRPr b="1">
              <a:latin typeface="DM Sans"/>
              <a:ea typeface="DM Sans"/>
              <a:cs typeface="DM Sans"/>
              <a:sym typeface="DM Sans"/>
            </a:endParaRPr>
          </a:p>
        </p:txBody>
      </p:sp>
      <p:pic>
        <p:nvPicPr>
          <p:cNvPr id="641" name="Google Shape;641;p51" title="Screenshot 2025-07-28 at 8.19.11 PM.png"/>
          <p:cNvPicPr preferRelativeResize="0"/>
          <p:nvPr/>
        </p:nvPicPr>
        <p:blipFill>
          <a:blip r:embed="rId3">
            <a:alphaModFix/>
          </a:blip>
          <a:stretch>
            <a:fillRect/>
          </a:stretch>
        </p:blipFill>
        <p:spPr>
          <a:xfrm>
            <a:off x="3550896" y="2246201"/>
            <a:ext cx="2042196" cy="2028950"/>
          </a:xfrm>
          <a:prstGeom prst="rect">
            <a:avLst/>
          </a:prstGeom>
          <a:noFill/>
          <a:ln>
            <a:noFill/>
          </a:ln>
        </p:spPr>
      </p:pic>
      <p:sp>
        <p:nvSpPr>
          <p:cNvPr id="642" name="Google Shape;642;p51"/>
          <p:cNvSpPr/>
          <p:nvPr/>
        </p:nvSpPr>
        <p:spPr>
          <a:xfrm>
            <a:off x="6354675" y="617450"/>
            <a:ext cx="2203500" cy="251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43" name="Google Shape;643;p51"/>
          <p:cNvSpPr txBox="1"/>
          <p:nvPr/>
        </p:nvSpPr>
        <p:spPr>
          <a:xfrm>
            <a:off x="5750475" y="2774200"/>
            <a:ext cx="3411900" cy="2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DM Sans"/>
                <a:ea typeface="DM Sans"/>
                <a:cs typeface="DM Sans"/>
                <a:sym typeface="DM Sans"/>
              </a:rPr>
              <a:t>Kevin Hicks PhD</a:t>
            </a:r>
            <a:endParaRPr b="1">
              <a:latin typeface="DM Sans"/>
              <a:ea typeface="DM Sans"/>
              <a:cs typeface="DM Sans"/>
              <a:sym typeface="DM Sans"/>
            </a:endParaRPr>
          </a:p>
        </p:txBody>
      </p:sp>
      <p:pic>
        <p:nvPicPr>
          <p:cNvPr id="644" name="Google Shape;644;p51" title="Screenshot 2025-07-28 at 8.23.31 PM.png"/>
          <p:cNvPicPr preferRelativeResize="0"/>
          <p:nvPr/>
        </p:nvPicPr>
        <p:blipFill>
          <a:blip r:embed="rId4">
            <a:alphaModFix/>
          </a:blip>
          <a:stretch>
            <a:fillRect/>
          </a:stretch>
        </p:blipFill>
        <p:spPr>
          <a:xfrm>
            <a:off x="6436800" y="751550"/>
            <a:ext cx="2039250" cy="2028950"/>
          </a:xfrm>
          <a:prstGeom prst="rect">
            <a:avLst/>
          </a:prstGeom>
          <a:noFill/>
          <a:ln>
            <a:noFill/>
          </a:ln>
        </p:spPr>
      </p:pic>
      <p:sp>
        <p:nvSpPr>
          <p:cNvPr id="645" name="Google Shape;645;p51"/>
          <p:cNvSpPr/>
          <p:nvPr/>
        </p:nvSpPr>
        <p:spPr>
          <a:xfrm>
            <a:off x="500800" y="617450"/>
            <a:ext cx="2203500" cy="251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46" name="Google Shape;646;p51"/>
          <p:cNvSpPr txBox="1"/>
          <p:nvPr/>
        </p:nvSpPr>
        <p:spPr>
          <a:xfrm>
            <a:off x="-92375" y="2774200"/>
            <a:ext cx="3411900" cy="2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DM Sans"/>
                <a:ea typeface="DM Sans"/>
                <a:cs typeface="DM Sans"/>
                <a:sym typeface="DM Sans"/>
              </a:rPr>
              <a:t>Paul Stewart PhD</a:t>
            </a:r>
            <a:endParaRPr b="1">
              <a:latin typeface="DM Sans"/>
              <a:ea typeface="DM Sans"/>
              <a:cs typeface="DM Sans"/>
              <a:sym typeface="DM Sans"/>
            </a:endParaRPr>
          </a:p>
        </p:txBody>
      </p:sp>
      <p:pic>
        <p:nvPicPr>
          <p:cNvPr id="647" name="Google Shape;647;p51" title="Screenshot 2025-07-28 at 8.24.57 PM.png"/>
          <p:cNvPicPr preferRelativeResize="0"/>
          <p:nvPr/>
        </p:nvPicPr>
        <p:blipFill>
          <a:blip r:embed="rId5">
            <a:alphaModFix/>
          </a:blip>
          <a:stretch>
            <a:fillRect/>
          </a:stretch>
        </p:blipFill>
        <p:spPr>
          <a:xfrm>
            <a:off x="582925" y="751550"/>
            <a:ext cx="2039250" cy="2028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pic>
        <p:nvPicPr>
          <p:cNvPr id="652" name="Google Shape;652;p52"/>
          <p:cNvPicPr preferRelativeResize="0"/>
          <p:nvPr/>
        </p:nvPicPr>
        <p:blipFill>
          <a:blip r:embed="rId3">
            <a:alphaModFix/>
          </a:blip>
          <a:stretch>
            <a:fillRect/>
          </a:stretch>
        </p:blipFill>
        <p:spPr>
          <a:xfrm>
            <a:off x="604025" y="453025"/>
            <a:ext cx="7945252" cy="42049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53"/>
          <p:cNvSpPr txBox="1"/>
          <p:nvPr>
            <p:ph idx="1" type="body"/>
          </p:nvPr>
        </p:nvSpPr>
        <p:spPr>
          <a:xfrm>
            <a:off x="720000" y="1215750"/>
            <a:ext cx="4525800" cy="3145200"/>
          </a:xfrm>
          <a:prstGeom prst="rect">
            <a:avLst/>
          </a:prstGeom>
        </p:spPr>
        <p:txBody>
          <a:bodyPr anchorCtr="0" anchor="t" bIns="91425" lIns="91425" spcFirstLastPara="1" rIns="91425" wrap="square" tIns="91425">
            <a:noAutofit/>
          </a:bodyPr>
          <a:lstStyle/>
          <a:p>
            <a:pPr indent="-279400" lvl="0" marL="457200" rtl="0" algn="l">
              <a:lnSpc>
                <a:spcPct val="115000"/>
              </a:lnSpc>
              <a:spcBef>
                <a:spcPts val="0"/>
              </a:spcBef>
              <a:spcAft>
                <a:spcPts val="0"/>
              </a:spcAft>
              <a:buSzPts val="800"/>
              <a:buFont typeface="Outfit Light"/>
              <a:buChar char="●"/>
            </a:pPr>
            <a:r>
              <a:rPr lang="en" sz="1750">
                <a:solidFill>
                  <a:srgbClr val="000000"/>
                </a:solidFill>
                <a:latin typeface="Outfit"/>
                <a:ea typeface="Outfit"/>
                <a:cs typeface="Outfit"/>
                <a:sym typeface="Outfit"/>
              </a:rPr>
              <a:t>Hicks, K. G., et al. (2023). Protein-metabolite interactomics of carbohydrate metabolism reveal regulation of lactate dehydrogenase. Science, 379(6636), 996–1003. https://doi.org/10.1126/science.abm3452</a:t>
            </a:r>
            <a:endParaRPr sz="1750">
              <a:solidFill>
                <a:srgbClr val="000000"/>
              </a:solidFill>
              <a:latin typeface="Outfit"/>
              <a:ea typeface="Outfit"/>
              <a:cs typeface="Outfit"/>
              <a:sym typeface="Outfit"/>
            </a:endParaRPr>
          </a:p>
          <a:p>
            <a:pPr indent="0" lvl="0" marL="457200" rtl="0" algn="l">
              <a:spcBef>
                <a:spcPts val="0"/>
              </a:spcBef>
              <a:spcAft>
                <a:spcPts val="0"/>
              </a:spcAft>
              <a:buNone/>
            </a:pPr>
            <a:r>
              <a:t/>
            </a:r>
            <a:endParaRPr sz="800"/>
          </a:p>
        </p:txBody>
      </p:sp>
      <p:sp>
        <p:nvSpPr>
          <p:cNvPr id="658" name="Google Shape;658;p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Sources</a:t>
            </a:r>
            <a:endParaRPr/>
          </a:p>
        </p:txBody>
      </p:sp>
      <p:pic>
        <p:nvPicPr>
          <p:cNvPr id="659" name="Google Shape;659;p53" title="Jc3xLH.png"/>
          <p:cNvPicPr preferRelativeResize="0"/>
          <p:nvPr/>
        </p:nvPicPr>
        <p:blipFill>
          <a:blip r:embed="rId3">
            <a:alphaModFix/>
          </a:blip>
          <a:stretch>
            <a:fillRect/>
          </a:stretch>
        </p:blipFill>
        <p:spPr>
          <a:xfrm>
            <a:off x="5544375" y="1215750"/>
            <a:ext cx="3141850" cy="35041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54"/>
          <p:cNvSpPr txBox="1"/>
          <p:nvPr>
            <p:ph type="title"/>
          </p:nvPr>
        </p:nvSpPr>
        <p:spPr>
          <a:xfrm>
            <a:off x="713225" y="677525"/>
            <a:ext cx="5094600" cy="10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a:t>
            </a:r>
            <a:endParaRPr/>
          </a:p>
          <a:p>
            <a:pPr indent="0" lvl="0" marL="0" rtl="0" algn="l">
              <a:spcBef>
                <a:spcPts val="0"/>
              </a:spcBef>
              <a:spcAft>
                <a:spcPts val="0"/>
              </a:spcAft>
              <a:buNone/>
            </a:pPr>
            <a:r>
              <a:rPr lang="en"/>
              <a:t>you!</a:t>
            </a:r>
            <a:endParaRPr/>
          </a:p>
        </p:txBody>
      </p:sp>
      <p:sp>
        <p:nvSpPr>
          <p:cNvPr id="665" name="Google Shape;665;p54"/>
          <p:cNvSpPr txBox="1"/>
          <p:nvPr>
            <p:ph idx="1" type="subTitle"/>
          </p:nvPr>
        </p:nvSpPr>
        <p:spPr>
          <a:xfrm>
            <a:off x="713225" y="2694650"/>
            <a:ext cx="2577600" cy="105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DM Sans Medium"/>
                <a:ea typeface="DM Sans Medium"/>
                <a:cs typeface="DM Sans Medium"/>
                <a:sym typeface="DM Sans Medium"/>
              </a:rPr>
              <a:t>Do you have any questions?</a:t>
            </a:r>
            <a:endParaRPr sz="2000">
              <a:latin typeface="DM Sans Medium"/>
              <a:ea typeface="DM Sans Medium"/>
              <a:cs typeface="DM Sans Medium"/>
              <a:sym typeface="DM Sans Medium"/>
            </a:endParaRPr>
          </a:p>
          <a:p>
            <a:pPr indent="0" lvl="0" marL="0" rtl="0" algn="l">
              <a:spcBef>
                <a:spcPts val="0"/>
              </a:spcBef>
              <a:spcAft>
                <a:spcPts val="0"/>
              </a:spcAft>
              <a:buNone/>
            </a:pPr>
            <a:r>
              <a:t/>
            </a:r>
            <a:endParaRPr/>
          </a:p>
        </p:txBody>
      </p:sp>
      <p:sp>
        <p:nvSpPr>
          <p:cNvPr id="666" name="Google Shape;666;p54"/>
          <p:cNvSpPr/>
          <p:nvPr/>
        </p:nvSpPr>
        <p:spPr>
          <a:xfrm flipH="1" rot="10800000">
            <a:off x="7185836" y="1838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4"/>
          <p:cNvSpPr/>
          <p:nvPr/>
        </p:nvSpPr>
        <p:spPr>
          <a:xfrm flipH="1" rot="10800000">
            <a:off x="7137014" y="45389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4"/>
          <p:cNvSpPr/>
          <p:nvPr/>
        </p:nvSpPr>
        <p:spPr>
          <a:xfrm flipH="1" rot="10800000">
            <a:off x="6717609" y="40671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54"/>
          <p:cNvSpPr/>
          <p:nvPr/>
        </p:nvSpPr>
        <p:spPr>
          <a:xfrm flipH="1" rot="10800000">
            <a:off x="6249883" y="30147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54"/>
          <p:cNvSpPr/>
          <p:nvPr/>
        </p:nvSpPr>
        <p:spPr>
          <a:xfrm flipH="1" rot="10800000">
            <a:off x="5843383" y="35110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4"/>
          <p:cNvSpPr/>
          <p:nvPr/>
        </p:nvSpPr>
        <p:spPr>
          <a:xfrm flipH="1" rot="10800000">
            <a:off x="7591814" y="33956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54"/>
          <p:cNvSpPr/>
          <p:nvPr/>
        </p:nvSpPr>
        <p:spPr>
          <a:xfrm flipH="1" rot="10800000">
            <a:off x="7185829" y="231055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54"/>
          <p:cNvSpPr/>
          <p:nvPr/>
        </p:nvSpPr>
        <p:spPr>
          <a:xfrm flipH="1" rot="10800000">
            <a:off x="8073366" y="298153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4"/>
          <p:cNvSpPr/>
          <p:nvPr/>
        </p:nvSpPr>
        <p:spPr>
          <a:xfrm>
            <a:off x="6147012" y="126063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4"/>
          <p:cNvSpPr/>
          <p:nvPr/>
        </p:nvSpPr>
        <p:spPr>
          <a:xfrm>
            <a:off x="6466130" y="283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4"/>
          <p:cNvSpPr/>
          <p:nvPr/>
        </p:nvSpPr>
        <p:spPr>
          <a:xfrm>
            <a:off x="5843384" y="-4934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54"/>
          <p:cNvSpPr/>
          <p:nvPr/>
        </p:nvSpPr>
        <p:spPr>
          <a:xfrm>
            <a:off x="6794122" y="8701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54"/>
          <p:cNvSpPr/>
          <p:nvPr/>
        </p:nvSpPr>
        <p:spPr>
          <a:xfrm>
            <a:off x="5215805" y="-48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4"/>
          <p:cNvSpPr/>
          <p:nvPr/>
        </p:nvSpPr>
        <p:spPr>
          <a:xfrm flipH="1" rot="10800000">
            <a:off x="8595683" y="194750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54"/>
          <p:cNvSpPr/>
          <p:nvPr/>
        </p:nvSpPr>
        <p:spPr>
          <a:xfrm flipH="1" rot="10800000">
            <a:off x="8149185" y="14643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54"/>
          <p:cNvSpPr/>
          <p:nvPr/>
        </p:nvSpPr>
        <p:spPr>
          <a:xfrm>
            <a:off x="7964287" y="42340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54"/>
          <p:cNvSpPr/>
          <p:nvPr/>
        </p:nvSpPr>
        <p:spPr>
          <a:xfrm>
            <a:off x="8372430" y="-48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3" name="Google Shape;683;p54"/>
          <p:cNvCxnSpPr/>
          <p:nvPr/>
        </p:nvCxnSpPr>
        <p:spPr>
          <a:xfrm>
            <a:off x="814225" y="677513"/>
            <a:ext cx="373500" cy="0"/>
          </a:xfrm>
          <a:prstGeom prst="straightConnector1">
            <a:avLst/>
          </a:prstGeom>
          <a:noFill/>
          <a:ln cap="flat" cmpd="sng" w="19050">
            <a:solidFill>
              <a:schemeClr val="dk1"/>
            </a:solidFill>
            <a:prstDash val="solid"/>
            <a:round/>
            <a:headEnd len="med" w="med" type="none"/>
            <a:tailEnd len="med" w="med" type="none"/>
          </a:ln>
        </p:spPr>
      </p:cxnSp>
      <p:sp>
        <p:nvSpPr>
          <p:cNvPr id="684" name="Google Shape;684;p54"/>
          <p:cNvSpPr/>
          <p:nvPr/>
        </p:nvSpPr>
        <p:spPr>
          <a:xfrm>
            <a:off x="780425" y="3681025"/>
            <a:ext cx="4966200" cy="682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685" name="Google Shape;685;p54"/>
          <p:cNvGrpSpPr/>
          <p:nvPr/>
        </p:nvGrpSpPr>
        <p:grpSpPr>
          <a:xfrm>
            <a:off x="4389259" y="490795"/>
            <a:ext cx="373487" cy="373445"/>
            <a:chOff x="1323129" y="2571761"/>
            <a:chExt cx="417024" cy="417024"/>
          </a:xfrm>
        </p:grpSpPr>
        <p:sp>
          <p:nvSpPr>
            <p:cNvPr id="686" name="Google Shape;686;p54"/>
            <p:cNvSpPr/>
            <p:nvPr/>
          </p:nvSpPr>
          <p:spPr>
            <a:xfrm>
              <a:off x="1385007" y="2719183"/>
              <a:ext cx="73337" cy="219907"/>
            </a:xfrm>
            <a:custGeom>
              <a:rect b="b" l="l" r="r" t="t"/>
              <a:pathLst>
                <a:path extrusionOk="0" h="10537" w="3514">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lt1"/>
            </a:solidFill>
            <a:ln>
              <a:noFill/>
            </a:ln>
          </p:spPr>
          <p:txBody>
            <a:bodyPr anchorCtr="0" anchor="ctr" bIns="83825" lIns="83825" spcFirstLastPara="1" rIns="83825" wrap="square" tIns="83825">
              <a:noAutofit/>
            </a:bodyPr>
            <a:lstStyle/>
            <a:p>
              <a:pPr indent="0" lvl="0" marL="0" rtl="0" algn="l">
                <a:spcBef>
                  <a:spcPts val="0"/>
                </a:spcBef>
                <a:spcAft>
                  <a:spcPts val="0"/>
                </a:spcAft>
                <a:buNone/>
              </a:pPr>
              <a:r>
                <a:t/>
              </a:r>
              <a:endParaRPr sz="1283">
                <a:solidFill>
                  <a:schemeClr val="lt1"/>
                </a:solidFill>
              </a:endParaRPr>
            </a:p>
          </p:txBody>
        </p:sp>
        <p:sp>
          <p:nvSpPr>
            <p:cNvPr id="687" name="Google Shape;687;p54"/>
            <p:cNvSpPr/>
            <p:nvPr/>
          </p:nvSpPr>
          <p:spPr>
            <a:xfrm>
              <a:off x="1385007" y="2621430"/>
              <a:ext cx="73337" cy="73337"/>
            </a:xfrm>
            <a:custGeom>
              <a:rect b="b" l="l" r="r" t="t"/>
              <a:pathLst>
                <a:path extrusionOk="0" h="3514" w="3514">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lt1"/>
            </a:solidFill>
            <a:ln>
              <a:noFill/>
            </a:ln>
          </p:spPr>
          <p:txBody>
            <a:bodyPr anchorCtr="0" anchor="ctr" bIns="83825" lIns="83825" spcFirstLastPara="1" rIns="83825" wrap="square" tIns="83825">
              <a:noAutofit/>
            </a:bodyPr>
            <a:lstStyle/>
            <a:p>
              <a:pPr indent="0" lvl="0" marL="0" rtl="0" algn="l">
                <a:spcBef>
                  <a:spcPts val="0"/>
                </a:spcBef>
                <a:spcAft>
                  <a:spcPts val="0"/>
                </a:spcAft>
                <a:buNone/>
              </a:pPr>
              <a:r>
                <a:t/>
              </a:r>
              <a:endParaRPr sz="1283">
                <a:solidFill>
                  <a:schemeClr val="lt1"/>
                </a:solidFill>
              </a:endParaRPr>
            </a:p>
          </p:txBody>
        </p:sp>
        <p:sp>
          <p:nvSpPr>
            <p:cNvPr id="688" name="Google Shape;688;p54"/>
            <p:cNvSpPr/>
            <p:nvPr/>
          </p:nvSpPr>
          <p:spPr>
            <a:xfrm>
              <a:off x="1482759" y="2718786"/>
              <a:ext cx="195510" cy="220304"/>
            </a:xfrm>
            <a:custGeom>
              <a:rect b="b" l="l" r="r" t="t"/>
              <a:pathLst>
                <a:path extrusionOk="0" h="10556" w="9368">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lt1"/>
            </a:solidFill>
            <a:ln>
              <a:noFill/>
            </a:ln>
          </p:spPr>
          <p:txBody>
            <a:bodyPr anchorCtr="0" anchor="ctr" bIns="83825" lIns="83825" spcFirstLastPara="1" rIns="83825" wrap="square" tIns="83825">
              <a:noAutofit/>
            </a:bodyPr>
            <a:lstStyle/>
            <a:p>
              <a:pPr indent="0" lvl="0" marL="0" rtl="0" algn="l">
                <a:spcBef>
                  <a:spcPts val="0"/>
                </a:spcBef>
                <a:spcAft>
                  <a:spcPts val="0"/>
                </a:spcAft>
                <a:buNone/>
              </a:pPr>
              <a:r>
                <a:t/>
              </a:r>
              <a:endParaRPr sz="1283">
                <a:solidFill>
                  <a:schemeClr val="lt1"/>
                </a:solidFill>
              </a:endParaRPr>
            </a:p>
          </p:txBody>
        </p:sp>
        <p:sp>
          <p:nvSpPr>
            <p:cNvPr id="689" name="Google Shape;689;p54"/>
            <p:cNvSpPr/>
            <p:nvPr/>
          </p:nvSpPr>
          <p:spPr>
            <a:xfrm>
              <a:off x="1323129" y="2571761"/>
              <a:ext cx="417024" cy="417024"/>
            </a:xfrm>
            <a:custGeom>
              <a:rect b="b" l="l" r="r" t="t"/>
              <a:pathLst>
                <a:path extrusionOk="0" h="19982" w="19982">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lt1"/>
            </a:solidFill>
            <a:ln>
              <a:noFill/>
            </a:ln>
          </p:spPr>
          <p:txBody>
            <a:bodyPr anchorCtr="0" anchor="ctr" bIns="83825" lIns="83825" spcFirstLastPara="1" rIns="83825" wrap="square" tIns="83825">
              <a:noAutofit/>
            </a:bodyPr>
            <a:lstStyle/>
            <a:p>
              <a:pPr indent="0" lvl="0" marL="0" rtl="0" algn="l">
                <a:spcBef>
                  <a:spcPts val="0"/>
                </a:spcBef>
                <a:spcAft>
                  <a:spcPts val="0"/>
                </a:spcAft>
                <a:buNone/>
              </a:pPr>
              <a:r>
                <a:t/>
              </a:r>
              <a:endParaRPr sz="1283">
                <a:solidFill>
                  <a:schemeClr val="lt1"/>
                </a:solidFil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